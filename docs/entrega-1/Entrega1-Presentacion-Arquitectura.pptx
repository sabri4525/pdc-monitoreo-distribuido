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09a446d58a48ee" /><Relationship Type="http://schemas.openxmlformats.org/officeDocument/2006/relationships/extended-properties" Target="/docProps/app.xml" Id="Rceeda5d96db3446d" /><Relationship Type="http://schemas.openxmlformats.org/officeDocument/2006/relationships/officeDocument" Target="/ppt/presentation.xml" Id="R0aaf974564fc4b5e" /></Relationships>
</file>

<file path=ppt/presentation.xml><?xml version="1.0" encoding="utf-8"?>
<p:presentation xmlns:p="http://schemas.openxmlformats.org/presentationml/2006/main">
  <p:sldMasterIdLst>
    <p:sldMasterId xmlns:r="http://schemas.openxmlformats.org/officeDocument/2006/relationships" id="2147483648" r:id="R5ef475659d904f07"/>
  </p:sldMasterIdLst>
  <p:notesMasterIdLst>
    <p:notesMasterId xmlns:r="http://schemas.openxmlformats.org/officeDocument/2006/relationships" r:id="R9825ef495a39415f"/>
  </p:notesMasterIdLst>
  <p:sldIdLst>
    <p:sldId xmlns:r="http://schemas.openxmlformats.org/officeDocument/2006/relationships" id="256" r:id="Rf8882275e2b948ef"/>
    <p:sldId xmlns:r="http://schemas.openxmlformats.org/officeDocument/2006/relationships" id="257" r:id="Rdff826d2cc4c4f0d"/>
    <p:sldId xmlns:r="http://schemas.openxmlformats.org/officeDocument/2006/relationships" id="258" r:id="R82794fc899214149"/>
    <p:sldId xmlns:r="http://schemas.openxmlformats.org/officeDocument/2006/relationships" id="259" r:id="R0b6eb848865d4df2"/>
    <p:sldId xmlns:r="http://schemas.openxmlformats.org/officeDocument/2006/relationships" id="260" r:id="Rb9a014503d2b4f94"/>
    <p:sldId xmlns:r="http://schemas.openxmlformats.org/officeDocument/2006/relationships" id="261" r:id="R80d995dd963b43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f3f2a5a24b4f9b" /><Relationship Type="http://schemas.openxmlformats.org/officeDocument/2006/relationships/slideMaster" Target="/ppt/slideMasters/slideMaster1.xml" Id="R5ef475659d904f07" /><Relationship Type="http://schemas.openxmlformats.org/officeDocument/2006/relationships/notesMaster" Target="/ppt/notesMasters/notesMaster1.xml" Id="R9825ef495a39415f" /><Relationship Type="http://schemas.openxmlformats.org/officeDocument/2006/relationships/presProps" Target="/ppt/presProps.xml" Id="R907fd41027be4fd9" /><Relationship Type="http://schemas.openxmlformats.org/officeDocument/2006/relationships/tableStyles" Target="/ppt/tableStyles.xml" Id="R2d5307c0dc644e00" /><Relationship Type="http://schemas.openxmlformats.org/officeDocument/2006/relationships/slide" Target="/ppt/slides/slide1.xml" Id="Rf8882275e2b948ef" /><Relationship Type="http://schemas.openxmlformats.org/officeDocument/2006/relationships/slide" Target="/ppt/slides/slide2.xml" Id="Rdff826d2cc4c4f0d" /><Relationship Type="http://schemas.openxmlformats.org/officeDocument/2006/relationships/slide" Target="/ppt/slides/slide3.xml" Id="R82794fc899214149" /><Relationship Type="http://schemas.openxmlformats.org/officeDocument/2006/relationships/slide" Target="/ppt/slides/slide4.xml" Id="R0b6eb848865d4df2" /><Relationship Type="http://schemas.openxmlformats.org/officeDocument/2006/relationships/slide" Target="/ppt/slides/slide5.xml" Id="Rb9a014503d2b4f94" /><Relationship Type="http://schemas.openxmlformats.org/officeDocument/2006/relationships/slide" Target="/ppt/slides/slide6.xml" Id="R80d995dd963b43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dffab1f19b4d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609bf944384f12" /><Relationship Type="http://schemas.openxmlformats.org/officeDocument/2006/relationships/notesMaster" Target="/ppt/notesMasters/notesMaster1.xml" Id="Rc1ca661d91724e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a100d45cd940cb" /><Relationship Type="http://schemas.openxmlformats.org/officeDocument/2006/relationships/notesMaster" Target="/ppt/notesMasters/notesMaster1.xml" Id="Raae47214ecdb40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50a45065b541cc" /><Relationship Type="http://schemas.openxmlformats.org/officeDocument/2006/relationships/notesMaster" Target="/ppt/notesMasters/notesMaster1.xml" Id="R964e6865c6874c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1a9d01a8c84762" /><Relationship Type="http://schemas.openxmlformats.org/officeDocument/2006/relationships/notesMaster" Target="/ppt/notesMasters/notesMaster1.xml" Id="R971daf822aef4c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09a50600aa49ed" /><Relationship Type="http://schemas.openxmlformats.org/officeDocument/2006/relationships/notesMaster" Target="/ppt/notesMasters/notesMaster1.xml" Id="R20ea09b6f1ea4b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5f924de0a5493f" /><Relationship Type="http://schemas.openxmlformats.org/officeDocument/2006/relationships/notesMaster" Target="/ppt/notesMasters/notesMaster1.xml" Id="R93017bf7443645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de la exposición: validar la arquitectura y su alcance antes de implementar. El título es descriptivo y no utiliza el nombre comercial del plan inicial.</a:t>
            </a:r>
          </a:p>
          <a:p xmlns:a="http://schemas.openxmlformats.org/drawingml/2006/main">
            <a:r>
              <a:t>Fuentes: Plan del proyecto Entrega 0, páginas 1 a 6. Plantilla Entrega 1 Propuesta de Arquitectura, página 1. Diseño conceptual desarrollado para esta propuesta.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sistema conserva resultados históricos. Los gráficos, el correo y el buffer persistente son mejoras posteriores. La temática se vincula con tareas de infraestructura, administración Linux y DBA.</a:t>
            </a:r>
          </a:p>
          <a:p xmlns:a="http://schemas.openxmlformats.org/drawingml/2006/main">
            <a:r>
              <a:t>Fuentes: Plan del proyecto Entrega 0, páginas 1 a 6. Plantilla Entrega 1 Propuesta de Arquitectura, página 1. Diseño conceptual desarrollado para esta propuesta.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vista describe la misma propuesta desde un punto de vista distinto. El informe desarrolla las entidades y relaciones, organización del código, concurrencia, despliegue y casos de uso.</a:t>
            </a:r>
          </a:p>
          <a:p xmlns:a="http://schemas.openxmlformats.org/drawingml/2006/main">
            <a:r>
              <a:t>Fuentes: Plan del proyecto Entrega 0, páginas 1 a 6. Plantilla Entrega 1 Propuesta de Arquitectura, página 1. Diseño conceptual desarrollado para esta propuesta.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laboratorio propone cuatro nodos virtuales, que pueden alojarse en una o varias computadoras físicas. La red privada y el despliegue se validarán según los recursos del equipo. El esquema muestra la propuesta inicial de tres agentes del plan oficial. La API central entrega configuración y recibe resultados y heartbeat. API y repositorio siguen siendo puntos únicos de fallo.</a:t>
            </a:r>
          </a:p>
          <a:p xmlns:a="http://schemas.openxmlformats.org/drawingml/2006/main">
            <a:r>
              <a:t>Fuentes: Plan del proyecto Entrega 0, páginas 1 a 6. Plantilla Entrega 1 Propuesta de Arquitectura, página 1. Diseño conceptual desarrollado para esta propuesta.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propone evitar superposición del mismo control. Un evento antiguo se conserva en el histórico y no debe reemplazar una muestra más reciente. Los reintentos son limitados. El buffer SQLite persistente queda como mejora posterior, por lo que una caída prolongada de la API puede causar pérdida de muestras.</a:t>
            </a:r>
          </a:p>
          <a:p xmlns:a="http://schemas.openxmlformats.org/drawingml/2006/main">
            <a:r>
              <a:t>Fuentes: Plan del proyecto Entrega 0, páginas 1 a 6. Plantilla Entrega 1 Propuesta de Arquitectura, página 1. Diseño conceptual desarrollado para esta propuesta.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ilustrativo del caso de tablespace: 92 % de ocupación frente a umbral crítico de 90 %. No es una medición real. El informe vincula el escenario con las cuatro vistas. Otro caso es cambiar el intervalo de un control mediante configuración versionada. Las tecnologías son las propuestas en la Entrega 0 y quedan sujetas a validación.</a:t>
            </a:r>
          </a:p>
          <a:p xmlns:a="http://schemas.openxmlformats.org/drawingml/2006/main">
            <a:r>
              <a:t>Fuentes: Plan del proyecto Entrega 0, páginas 1 a 6. Plantilla Entrega 1 Propuesta de Arquitectura, página 1. Diseño conceptual desarrollado para esta propuesta.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90160164ef46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d728c60dfa41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b0c431717245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416f7fec9341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20c8ac5097d4c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ec729d0528e49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698E05-505B-4570-9577-EE6656CBD4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AE48B17-9ACD-4F12-92EA-B3406133F3B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C433F8F-31B9-47F7-A048-88D8D61EFAE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42D64A-0A43-4085-B67F-AF454332F4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F0DC7B2-D8DA-4778-A9E2-8E96C0F7977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F7276FB-D3B9-47D5-9337-4C3CEAAF49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704380-32BA-449A-8D16-4119822CC4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8D6CD76-CA09-4AC7-994B-B8B1CA66DE8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B57187-C388-4B4C-8A3C-6F39142BC8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B068F5-A27F-4CFA-91AD-9865304823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94a60ed2a24044" /><Relationship Type="http://schemas.openxmlformats.org/officeDocument/2006/relationships/slideLayout" Target="/ppt/slideLayouts/slideLayout1.xml" Id="R53ff910ee85b4a68" /><Relationship Type="http://schemas.openxmlformats.org/officeDocument/2006/relationships/slideLayout" Target="/ppt/slideLayouts/slideLayout2.xml" Id="Ra3d57ec416db4fff" /><Relationship Type="http://schemas.openxmlformats.org/officeDocument/2006/relationships/slideLayout" Target="/ppt/slideLayouts/slideLayout3.xml" Id="Rf6de3d5a5b6f46e8" /><Relationship Type="http://schemas.openxmlformats.org/officeDocument/2006/relationships/slideLayout" Target="/ppt/slideLayouts/slideLayout4.xml" Id="R094e8ade30f647df" /><Relationship Type="http://schemas.openxmlformats.org/officeDocument/2006/relationships/slideLayout" Target="/ppt/slideLayouts/slideLayout5.xml" Id="Rc9b82d59f8384079" /><Relationship Type="http://schemas.openxmlformats.org/officeDocument/2006/relationships/slideLayout" Target="/ppt/slideLayouts/slideLayout6.xml" Id="R948f860a8f3647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ff910ee85b4a68"/>
    <p:sldLayoutId xmlns:r="http://schemas.openxmlformats.org/officeDocument/2006/relationships" id="2147483650" r:id="Ra3d57ec416db4fff"/>
    <p:sldLayoutId xmlns:r="http://schemas.openxmlformats.org/officeDocument/2006/relationships" id="2147483651" r:id="Rf6de3d5a5b6f46e8"/>
    <p:sldLayoutId xmlns:r="http://schemas.openxmlformats.org/officeDocument/2006/relationships" id="2147483652" r:id="R094e8ade30f647df"/>
    <p:sldLayoutId xmlns:r="http://schemas.openxmlformats.org/officeDocument/2006/relationships" id="2147483653" r:id="Rc9b82d59f8384079"/>
    <p:sldLayoutId xmlns:r="http://schemas.openxmlformats.org/officeDocument/2006/relationships" id="2147483654" r:id="R948f860a8f3647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51aec9a26e34bda" /><Relationship Type="http://schemas.openxmlformats.org/officeDocument/2006/relationships/notesSlide" Target="/ppt/notesSlides/notesSlide1.xml" Id="Rbc222cef636d49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c607d4e9df4f0b" /><Relationship Type="http://schemas.openxmlformats.org/officeDocument/2006/relationships/notesSlide" Target="/ppt/notesSlides/notesSlide2.xml" Id="R6457e75e6cff48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8bbd785c160467c" /><Relationship Type="http://schemas.openxmlformats.org/officeDocument/2006/relationships/notesSlide" Target="/ppt/notesSlides/notesSlide3.xml" Id="R4f413008c24b4a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25f66713e8c4f47" /><Relationship Type="http://schemas.openxmlformats.org/officeDocument/2006/relationships/notesSlide" Target="/ppt/notesSlides/notesSlide4.xml" Id="Rb85cdc09ea8049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cc676c735cd45bd" /><Relationship Type="http://schemas.openxmlformats.org/officeDocument/2006/relationships/notesSlide" Target="/ppt/notesSlides/notesSlide5.xml" Id="R9b7eaf33ad694c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9880d4a305245b9" /><Relationship Type="http://schemas.openxmlformats.org/officeDocument/2006/relationships/notesSlide" Target="/ppt/notesSlides/notesSlide6.xml" Id="R6e4d16a20687485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79F40C-963D-44B2-9809-2A75BC39783D}"/>
              </a:ext>
            </a:extLst>
          </p:cNvPr>
          <p:cNvSpPr>
            <a:spLocks xmlns:a="http://schemas.openxmlformats.org/drawingml/2006/main" noGrp="1"/>
          </p:cNvSpPr>
          <p:nvPr/>
        </p:nvSpPr>
        <p:spPr>
          <a:xfrm xmlns:a="http://schemas.openxmlformats.org/drawingml/2006/main">
            <a:off x="647700" y="1143000"/>
            <a:ext cx="108966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72635"/>
                </a:solidFill>
                <a:latin typeface="Calibri"/>
                <a:ea typeface="Calibri"/>
                <a:cs typeface="Calibri"/>
              </a:defRPr>
            </a:defPPr>
          </a:lstStyle>
          <a:p xmlns:a="http://schemas.openxmlformats.org/drawingml/2006/main">
            <a:pPr>
              <a:defRPr sz="4050" b="1">
                <a:solidFill>
                  <a:srgbClr val="172635"/>
                </a:solidFill>
                <a:latin typeface="Calibri"/>
                <a:ea typeface="Calibri"/>
                <a:cs typeface="Calibri"/>
              </a:defRPr>
            </a:pPr>
            <a:r>
              <a:rPr sz="4050" b="1">
                <a:solidFill>
                  <a:srgbClr val="172635"/>
                </a:solidFill>
                <a:latin typeface="Calibri"/>
                <a:ea typeface="Calibri"/>
                <a:cs typeface="Calibri"/>
              </a:rPr>
              <a:t>Sistema distribuido de monitoreo</a:t>
            </a:r>
          </a:p>
          <a:p xmlns:a="http://schemas.openxmlformats.org/drawingml/2006/main">
            <a:pPr>
              <a:defRPr sz="4050" b="1">
                <a:solidFill>
                  <a:srgbClr val="172635"/>
                </a:solidFill>
                <a:latin typeface="Calibri"/>
                <a:ea typeface="Calibri"/>
                <a:cs typeface="Calibri"/>
              </a:defRPr>
            </a:pPr>
            <a:r>
              <a:rPr sz="4050" b="1">
                <a:solidFill>
                  <a:srgbClr val="172635"/>
                </a:solidFill>
                <a:latin typeface="Calibri"/>
                <a:ea typeface="Calibri"/>
                <a:cs typeface="Calibri"/>
              </a:rPr>
              <a:t>de servidores y bases de datos</a:t>
            </a:r>
          </a:p>
        </p:txBody>
      </p:sp>
      <p:sp>
        <p:nvSpPr>
          <p:cNvPr id="2" name="">
            <a:extLst xmlns:a="http://schemas.openxmlformats.org/drawingml/2006/main">
              <a:ext uri="{FF2B5EF4-FFF2-40B4-BE49-F238E27FC236}">
                <a16:creationId xmlns:a16="http://schemas.microsoft.com/office/drawing/2014/main" id="{7D3B5725-D8E6-44A1-AF71-9969D4A0D9D9}"/>
              </a:ext>
            </a:extLst>
          </p:cNvPr>
          <p:cNvSpPr>
            <a:spLocks xmlns:a="http://schemas.openxmlformats.org/drawingml/2006/main" noGrp="1"/>
          </p:cNvSpPr>
          <p:nvPr/>
        </p:nvSpPr>
        <p:spPr>
          <a:xfrm xmlns:a="http://schemas.openxmlformats.org/drawingml/2006/main">
            <a:off x="647700" y="33337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94E70"/>
                </a:solidFill>
                <a:latin typeface="Calibri"/>
                <a:ea typeface="Calibri"/>
                <a:cs typeface="Calibri"/>
              </a:defRPr>
            </a:defPPr>
          </a:lstStyle>
          <a:p xmlns:a="http://schemas.openxmlformats.org/drawingml/2006/main">
            <a:pPr>
              <a:defRPr sz="2325" b="0">
                <a:solidFill>
                  <a:srgbClr val="294E70"/>
                </a:solidFill>
                <a:latin typeface="Calibri"/>
                <a:ea typeface="Calibri"/>
                <a:cs typeface="Calibri"/>
              </a:defRPr>
            </a:pPr>
            <a:r>
              <a:rPr sz="2325" b="0">
                <a:solidFill>
                  <a:srgbClr val="294E70"/>
                </a:solidFill>
                <a:latin typeface="Calibri"/>
                <a:ea typeface="Calibri"/>
                <a:cs typeface="Calibri"/>
              </a:rPr>
              <a:t>Entrega 1  Propuesta de Arquitectura</a:t>
            </a:r>
          </a:p>
        </p:txBody>
      </p:sp>
      <p:sp>
        <p:nvSpPr>
          <p:cNvPr id="3" name="">
            <a:extLst xmlns:a="http://schemas.openxmlformats.org/drawingml/2006/main">
              <a:ext uri="{FF2B5EF4-FFF2-40B4-BE49-F238E27FC236}">
                <a16:creationId xmlns:a16="http://schemas.microsoft.com/office/drawing/2014/main" id="{E1255378-545E-410E-ABBD-A12D4D4F658A}"/>
              </a:ext>
            </a:extLst>
          </p:cNvPr>
          <p:cNvSpPr>
            <a:spLocks xmlns:a="http://schemas.openxmlformats.org/drawingml/2006/main" noGrp="1"/>
          </p:cNvSpPr>
          <p:nvPr/>
        </p:nvSpPr>
        <p:spPr>
          <a:xfrm xmlns:a="http://schemas.openxmlformats.org/drawingml/2006/main">
            <a:off x="647700" y="3952875"/>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635"/>
                </a:solidFill>
                <a:latin typeface="Calibri"/>
                <a:ea typeface="Calibri"/>
                <a:cs typeface="Calibri"/>
              </a:defRPr>
            </a:defPPr>
          </a:lstStyle>
          <a:p xmlns:a="http://schemas.openxmlformats.org/drawingml/2006/main">
            <a:pPr>
              <a:defRPr sz="1875" b="0">
                <a:solidFill>
                  <a:srgbClr val="172635"/>
                </a:solidFill>
                <a:latin typeface="Calibri"/>
                <a:ea typeface="Calibri"/>
                <a:cs typeface="Calibri"/>
              </a:defRPr>
            </a:pPr>
            <a:r>
              <a:rPr sz="1875" b="0">
                <a:solidFill>
                  <a:srgbClr val="172635"/>
                </a:solidFill>
                <a:latin typeface="Calibri"/>
                <a:ea typeface="Calibri"/>
                <a:cs typeface="Calibri"/>
              </a:rPr>
              <a:t>Programación Distribuida y Componentes</a:t>
            </a:r>
          </a:p>
        </p:txBody>
      </p:sp>
      <p:sp>
        <p:nvSpPr>
          <p:cNvPr id="4" name="">
            <a:extLst xmlns:a="http://schemas.openxmlformats.org/drawingml/2006/main">
              <a:ext uri="{FF2B5EF4-FFF2-40B4-BE49-F238E27FC236}">
                <a16:creationId xmlns:a16="http://schemas.microsoft.com/office/drawing/2014/main" id="{87D70ECC-EEDD-4832-9343-C6A960829FAB}"/>
              </a:ext>
            </a:extLst>
          </p:cNvPr>
          <p:cNvSpPr>
            <a:spLocks xmlns:a="http://schemas.openxmlformats.org/drawingml/2006/main" noGrp="1"/>
          </p:cNvSpPr>
          <p:nvPr/>
        </p:nvSpPr>
        <p:spPr>
          <a:xfrm xmlns:a="http://schemas.openxmlformats.org/drawingml/2006/main">
            <a:off x="647700" y="4905375"/>
            <a:ext cx="1089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578"/>
                </a:solidFill>
                <a:latin typeface="Calibri"/>
                <a:ea typeface="Calibri"/>
                <a:cs typeface="Calibri"/>
              </a:defRPr>
            </a:defPPr>
          </a:lstStyle>
          <a:p xmlns:a="http://schemas.openxmlformats.org/drawingml/2006/main">
            <a:pPr>
              <a:defRPr sz="1800" b="0">
                <a:solidFill>
                  <a:srgbClr val="526578"/>
                </a:solidFill>
                <a:latin typeface="Calibri"/>
                <a:ea typeface="Calibri"/>
                <a:cs typeface="Calibri"/>
              </a:defRPr>
            </a:pPr>
            <a:r>
              <a:rPr sz="1800" b="0">
                <a:solidFill>
                  <a:srgbClr val="526578"/>
                </a:solidFill>
                <a:latin typeface="Calibri"/>
                <a:ea typeface="Calibri"/>
                <a:cs typeface="Calibri"/>
              </a:rPr>
              <a:t>Sabrina Vicente</a:t>
            </a:r>
          </a:p>
          <a:p xmlns:a="http://schemas.openxmlformats.org/drawingml/2006/main">
            <a:pPr>
              <a:defRPr sz="1800" b="0">
                <a:solidFill>
                  <a:srgbClr val="526578"/>
                </a:solidFill>
                <a:latin typeface="Calibri"/>
                <a:ea typeface="Calibri"/>
                <a:cs typeface="Calibri"/>
              </a:defRPr>
            </a:pPr>
            <a:r>
              <a:rPr sz="1800" b="0">
                <a:solidFill>
                  <a:srgbClr val="526578"/>
                </a:solidFill>
                <a:latin typeface="Calibri"/>
                <a:ea typeface="Calibri"/>
                <a:cs typeface="Calibri"/>
              </a:rPr>
              <a:t>Jorge Cubiló</a:t>
            </a:r>
          </a:p>
          <a:p xmlns:a="http://schemas.openxmlformats.org/drawingml/2006/main">
            <a:pPr>
              <a:defRPr sz="1800" b="0">
                <a:solidFill>
                  <a:srgbClr val="526578"/>
                </a:solidFill>
                <a:latin typeface="Calibri"/>
                <a:ea typeface="Calibri"/>
                <a:cs typeface="Calibri"/>
              </a:defRPr>
            </a:pPr>
            <a:r>
              <a:rPr sz="1800" b="0">
                <a:solidFill>
                  <a:srgbClr val="526578"/>
                </a:solidFill>
                <a:latin typeface="Calibri"/>
                <a:ea typeface="Calibri"/>
                <a:cs typeface="Calibri"/>
              </a:rPr>
              <a:t>Andres Graglia</a:t>
            </a:r>
          </a:p>
        </p:txBody>
      </p:sp>
    </p:spTree>
    <p:extLst>
      <p:ext uri="{BB962C8B-B14F-4D97-AF65-F5344CB8AC3E}">
        <p14:creationId xmlns:p14="http://schemas.microsoft.com/office/powerpoint/2010/main" val="18139150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7B0578-9C4E-4C01-80F3-558CEFCD9EDE}"/>
              </a:ext>
            </a:extLst>
          </p:cNvPr>
          <p:cNvSpPr>
            <a:spLocks xmlns:a="http://schemas.openxmlformats.org/drawingml/2006/main" noGrp="1"/>
          </p:cNvSpPr>
          <p:nvPr/>
        </p:nvSpPr>
        <p:spPr>
          <a:xfrm xmlns:a="http://schemas.openxmlformats.org/drawingml/2006/main">
            <a:off x="647700" y="43815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635"/>
                </a:solidFill>
                <a:latin typeface="Calibri"/>
                <a:ea typeface="Calibri"/>
                <a:cs typeface="Calibri"/>
              </a:defRPr>
            </a:defPPr>
          </a:lstStyle>
          <a:p xmlns:a="http://schemas.openxmlformats.org/drawingml/2006/main">
            <a:pPr>
              <a:defRPr sz="3150" b="1">
                <a:solidFill>
                  <a:srgbClr val="172635"/>
                </a:solidFill>
                <a:latin typeface="Calibri"/>
                <a:ea typeface="Calibri"/>
                <a:cs typeface="Calibri"/>
              </a:defRPr>
            </a:pPr>
            <a:r>
              <a:rPr sz="3150" b="1">
                <a:solidFill>
                  <a:srgbClr val="172635"/>
                </a:solidFill>
                <a:latin typeface="Calibri"/>
                <a:ea typeface="Calibri"/>
                <a:cs typeface="Calibri"/>
              </a:rPr>
              <a:t>Problema y alcance inicial</a:t>
            </a:r>
          </a:p>
        </p:txBody>
      </p:sp>
      <p:sp>
        <p:nvSpPr>
          <p:cNvPr id="2" name="">
            <a:extLst xmlns:a="http://schemas.openxmlformats.org/drawingml/2006/main">
              <a:ext uri="{FF2B5EF4-FFF2-40B4-BE49-F238E27FC236}">
                <a16:creationId xmlns:a16="http://schemas.microsoft.com/office/drawing/2014/main" id="{AC0CF9A5-6ACF-4E6A-B2C4-96322A051411}"/>
              </a:ext>
            </a:extLst>
          </p:cNvPr>
          <p:cNvSpPr>
            <a:spLocks xmlns:a="http://schemas.openxmlformats.org/drawingml/2006/main" noGrp="1"/>
          </p:cNvSpPr>
          <p:nvPr/>
        </p:nvSpPr>
        <p:spPr>
          <a:xfrm xmlns:a="http://schemas.openxmlformats.org/drawingml/2006/main">
            <a:off x="647700" y="1571625"/>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72635"/>
                </a:solidFill>
                <a:latin typeface="Calibri"/>
                <a:ea typeface="Calibri"/>
                <a:cs typeface="Calibri"/>
              </a:defRPr>
            </a:defPPr>
          </a:lstStyle>
          <a:p xmlns:a="http://schemas.openxmlformats.org/drawingml/2006/main">
            <a:pPr>
              <a:defRPr sz="2475" b="0">
                <a:solidFill>
                  <a:srgbClr val="172635"/>
                </a:solidFill>
                <a:latin typeface="Calibri"/>
                <a:ea typeface="Calibri"/>
                <a:cs typeface="Calibri"/>
              </a:defRPr>
            </a:pPr>
            <a:r>
              <a:rPr sz="2475" b="0">
                <a:solidFill>
                  <a:srgbClr val="172635"/>
                </a:solidFill>
                <a:latin typeface="Calibri"/>
                <a:ea typeface="Calibri"/>
                <a:cs typeface="Calibri"/>
              </a:rPr>
              <a:t>Los operadores necesitan conocer el estado de varios servidores y bases sin revisarlos uno por uno.</a:t>
            </a:r>
          </a:p>
        </p:txBody>
      </p:sp>
      <p:sp>
        <p:nvSpPr>
          <p:cNvPr id="3" name="">
            <a:extLst xmlns:a="http://schemas.openxmlformats.org/drawingml/2006/main">
              <a:ext uri="{FF2B5EF4-FFF2-40B4-BE49-F238E27FC236}">
                <a16:creationId xmlns:a16="http://schemas.microsoft.com/office/drawing/2014/main" id="{535D9E7F-6837-4EF2-9597-0AA9D6E9FA06}"/>
              </a:ext>
            </a:extLst>
          </p:cNvPr>
          <p:cNvSpPr>
            <a:spLocks xmlns:a="http://schemas.openxmlformats.org/drawingml/2006/main" noGrp="1"/>
          </p:cNvSpPr>
          <p:nvPr/>
        </p:nvSpPr>
        <p:spPr>
          <a:xfrm xmlns:a="http://schemas.openxmlformats.org/drawingml/2006/main">
            <a:off x="647700" y="2905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635"/>
                </a:solidFill>
                <a:latin typeface="Calibri"/>
                <a:ea typeface="Calibri"/>
                <a:cs typeface="Calibri"/>
              </a:defRPr>
            </a:defPPr>
          </a:lstStyle>
          <a:p xmlns:a="http://schemas.openxmlformats.org/drawingml/2006/main">
            <a:pPr>
              <a:defRPr sz="2025" b="1">
                <a:solidFill>
                  <a:srgbClr val="172635"/>
                </a:solidFill>
                <a:latin typeface="Calibri"/>
                <a:ea typeface="Calibri"/>
                <a:cs typeface="Calibri"/>
              </a:defRPr>
            </a:pPr>
            <a:r>
              <a:rPr sz="2025" b="1">
                <a:solidFill>
                  <a:srgbClr val="172635"/>
                </a:solidFill>
                <a:latin typeface="Calibri"/>
                <a:ea typeface="Calibri"/>
                <a:cs typeface="Calibri"/>
              </a:rPr>
              <a:t>Usuarios</a:t>
            </a:r>
          </a:p>
        </p:txBody>
      </p:sp>
      <p:sp>
        <p:nvSpPr>
          <p:cNvPr id="4" name="">
            <a:extLst xmlns:a="http://schemas.openxmlformats.org/drawingml/2006/main">
              <a:ext uri="{FF2B5EF4-FFF2-40B4-BE49-F238E27FC236}">
                <a16:creationId xmlns:a16="http://schemas.microsoft.com/office/drawing/2014/main" id="{80D43191-CD24-4496-88AE-A3685CD4B41D}"/>
              </a:ext>
            </a:extLst>
          </p:cNvPr>
          <p:cNvSpPr>
            <a:spLocks xmlns:a="http://schemas.openxmlformats.org/drawingml/2006/main" noGrp="1"/>
          </p:cNvSpPr>
          <p:nvPr/>
        </p:nvSpPr>
        <p:spPr>
          <a:xfrm xmlns:a="http://schemas.openxmlformats.org/drawingml/2006/main">
            <a:off x="647700" y="3476625"/>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635"/>
                </a:solidFill>
                <a:latin typeface="Calibri"/>
                <a:ea typeface="Calibri"/>
                <a:cs typeface="Calibri"/>
              </a:defRPr>
            </a:defPPr>
          </a:lstStyle>
          <a:p xmlns:a="http://schemas.openxmlformats.org/drawingml/2006/main">
            <a:pPr>
              <a:defRPr sz="2025" b="0">
                <a:solidFill>
                  <a:srgbClr val="172635"/>
                </a:solidFill>
                <a:latin typeface="Calibri"/>
                <a:ea typeface="Calibri"/>
                <a:cs typeface="Calibri"/>
              </a:defRPr>
            </a:pPr>
            <a:r>
              <a:rPr sz="2025" b="0">
                <a:solidFill>
                  <a:srgbClr val="172635"/>
                </a:solidFill>
                <a:latin typeface="Calibri"/>
                <a:ea typeface="Calibri"/>
                <a:cs typeface="Calibri"/>
              </a:rPr>
              <a:t>Operadores de infraestructura</a:t>
            </a:r>
          </a:p>
          <a:p xmlns:a="http://schemas.openxmlformats.org/drawingml/2006/main">
            <a:pPr>
              <a:defRPr sz="2025" b="0">
                <a:solidFill>
                  <a:srgbClr val="172635"/>
                </a:solidFill>
                <a:latin typeface="Calibri"/>
                <a:ea typeface="Calibri"/>
                <a:cs typeface="Calibri"/>
              </a:defRPr>
            </a:pPr>
            <a:r>
              <a:rPr sz="2025" b="0">
                <a:solidFill>
                  <a:srgbClr val="172635"/>
                </a:solidFill>
                <a:latin typeface="Calibri"/>
                <a:ea typeface="Calibri"/>
                <a:cs typeface="Calibri"/>
              </a:rPr>
              <a:t>Administradores de bases de datos</a:t>
            </a:r>
          </a:p>
        </p:txBody>
      </p:sp>
      <p:sp>
        <p:nvSpPr>
          <p:cNvPr id="5" name="">
            <a:extLst xmlns:a="http://schemas.openxmlformats.org/drawingml/2006/main">
              <a:ext uri="{FF2B5EF4-FFF2-40B4-BE49-F238E27FC236}">
                <a16:creationId xmlns:a16="http://schemas.microsoft.com/office/drawing/2014/main" id="{58D7441D-7DFE-4041-9049-B119634D0433}"/>
              </a:ext>
            </a:extLst>
          </p:cNvPr>
          <p:cNvSpPr>
            <a:spLocks xmlns:a="http://schemas.openxmlformats.org/drawingml/2006/main" noGrp="1"/>
          </p:cNvSpPr>
          <p:nvPr/>
        </p:nvSpPr>
        <p:spPr>
          <a:xfrm xmlns:a="http://schemas.openxmlformats.org/drawingml/2006/main">
            <a:off x="5886450" y="2905125"/>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635"/>
                </a:solidFill>
                <a:latin typeface="Calibri"/>
                <a:ea typeface="Calibri"/>
                <a:cs typeface="Calibri"/>
              </a:defRPr>
            </a:defPPr>
          </a:lstStyle>
          <a:p xmlns:a="http://schemas.openxmlformats.org/drawingml/2006/main">
            <a:pPr>
              <a:defRPr sz="2025" b="1">
                <a:solidFill>
                  <a:srgbClr val="172635"/>
                </a:solidFill>
                <a:latin typeface="Calibri"/>
                <a:ea typeface="Calibri"/>
                <a:cs typeface="Calibri"/>
              </a:defRPr>
            </a:pPr>
            <a:r>
              <a:rPr sz="2025" b="1">
                <a:solidFill>
                  <a:srgbClr val="172635"/>
                </a:solidFill>
                <a:latin typeface="Calibri"/>
                <a:ea typeface="Calibri"/>
                <a:cs typeface="Calibri"/>
              </a:rPr>
              <a:t>Primera versión</a:t>
            </a:r>
          </a:p>
        </p:txBody>
      </p:sp>
      <p:sp>
        <p:nvSpPr>
          <p:cNvPr id="6" name="">
            <a:extLst xmlns:a="http://schemas.openxmlformats.org/drawingml/2006/main">
              <a:ext uri="{FF2B5EF4-FFF2-40B4-BE49-F238E27FC236}">
                <a16:creationId xmlns:a16="http://schemas.microsoft.com/office/drawing/2014/main" id="{1201CDBF-B849-4632-AF63-A00AE3483E3E}"/>
              </a:ext>
            </a:extLst>
          </p:cNvPr>
          <p:cNvSpPr>
            <a:spLocks xmlns:a="http://schemas.openxmlformats.org/drawingml/2006/main" noGrp="1"/>
          </p:cNvSpPr>
          <p:nvPr/>
        </p:nvSpPr>
        <p:spPr>
          <a:xfrm xmlns:a="http://schemas.openxmlformats.org/drawingml/2006/main">
            <a:off x="5886450" y="3476625"/>
            <a:ext cx="54768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635"/>
                </a:solidFill>
                <a:latin typeface="Calibri"/>
                <a:ea typeface="Calibri"/>
                <a:cs typeface="Calibri"/>
              </a:defRPr>
            </a:defPPr>
          </a:lstStyle>
          <a:p xmlns:a="http://schemas.openxmlformats.org/drawingml/2006/main">
            <a:pPr>
              <a:defRPr sz="2025" b="0">
                <a:solidFill>
                  <a:srgbClr val="172635"/>
                </a:solidFill>
                <a:latin typeface="Calibri"/>
                <a:ea typeface="Calibri"/>
                <a:cs typeface="Calibri"/>
              </a:defRPr>
            </a:pPr>
            <a:r>
              <a:rPr sz="2025" b="0">
                <a:solidFill>
                  <a:srgbClr val="172635"/>
                </a:solidFill>
                <a:latin typeface="Calibri"/>
                <a:ea typeface="Calibri"/>
                <a:cs typeface="Calibri"/>
              </a:rPr>
              <a:t>Tres agentes con procesamiento local</a:t>
            </a:r>
          </a:p>
          <a:p xmlns:a="http://schemas.openxmlformats.org/drawingml/2006/main">
            <a:pPr>
              <a:defRPr sz="2025" b="0">
                <a:solidFill>
                  <a:srgbClr val="172635"/>
                </a:solidFill>
                <a:latin typeface="Calibri"/>
                <a:ea typeface="Calibri"/>
                <a:cs typeface="Calibri"/>
              </a:defRPr>
            </a:pPr>
            <a:r>
              <a:rPr sz="2025" b="0">
                <a:solidFill>
                  <a:srgbClr val="172635"/>
                </a:solidFill>
                <a:latin typeface="Calibri"/>
                <a:ea typeface="Calibri"/>
                <a:cs typeface="Calibri"/>
              </a:rPr>
              <a:t>Cuatro o cinco controles</a:t>
            </a:r>
          </a:p>
          <a:p xmlns:a="http://schemas.openxmlformats.org/drawingml/2006/main">
            <a:pPr>
              <a:defRPr sz="2025" b="0">
                <a:solidFill>
                  <a:srgbClr val="172635"/>
                </a:solidFill>
                <a:latin typeface="Calibri"/>
                <a:ea typeface="Calibri"/>
                <a:cs typeface="Calibri"/>
              </a:defRPr>
            </a:pPr>
            <a:r>
              <a:rPr sz="2025" b="0">
                <a:solidFill>
                  <a:srgbClr val="172635"/>
                </a:solidFill>
                <a:latin typeface="Calibri"/>
                <a:ea typeface="Calibri"/>
                <a:cs typeface="Calibri"/>
              </a:rPr>
              <a:t>Frecuencias y umbrales configurables</a:t>
            </a:r>
          </a:p>
          <a:p xmlns:a="http://schemas.openxmlformats.org/drawingml/2006/main">
            <a:pPr>
              <a:defRPr sz="2025" b="0">
                <a:solidFill>
                  <a:srgbClr val="172635"/>
                </a:solidFill>
                <a:latin typeface="Calibri"/>
                <a:ea typeface="Calibri"/>
                <a:cs typeface="Calibri"/>
              </a:defRPr>
            </a:pPr>
            <a:r>
              <a:rPr sz="2025" b="0">
                <a:solidFill>
                  <a:srgbClr val="172635"/>
                </a:solidFill>
                <a:latin typeface="Calibri"/>
                <a:ea typeface="Calibri"/>
                <a:cs typeface="Calibri"/>
              </a:rPr>
              <a:t>Dashboard general y detalle</a:t>
            </a:r>
          </a:p>
        </p:txBody>
      </p:sp>
      <p:sp>
        <p:nvSpPr>
          <p:cNvPr id="7" name="">
            <a:extLst xmlns:a="http://schemas.openxmlformats.org/drawingml/2006/main">
              <a:ext uri="{FF2B5EF4-FFF2-40B4-BE49-F238E27FC236}">
                <a16:creationId xmlns:a16="http://schemas.microsoft.com/office/drawing/2014/main" id="{4AD1EAAB-F797-46C8-B2B8-6D4AA06C06D8}"/>
              </a:ext>
            </a:extLst>
          </p:cNvPr>
          <p:cNvSpPr>
            <a:spLocks xmlns:a="http://schemas.openxmlformats.org/drawingml/2006/main" noGrp="1"/>
          </p:cNvSpPr>
          <p:nvPr/>
        </p:nvSpPr>
        <p:spPr>
          <a:xfrm xmlns:a="http://schemas.openxmlformats.org/drawingml/2006/main">
            <a:off x="647700" y="5810250"/>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94E70"/>
                </a:solidFill>
                <a:latin typeface="Calibri"/>
                <a:ea typeface="Calibri"/>
                <a:cs typeface="Calibri"/>
              </a:defRPr>
            </a:defPPr>
          </a:lstStyle>
          <a:p xmlns:a="http://schemas.openxmlformats.org/drawingml/2006/main">
            <a:pPr>
              <a:defRPr sz="1875" b="0">
                <a:solidFill>
                  <a:srgbClr val="294E70"/>
                </a:solidFill>
                <a:latin typeface="Calibri"/>
                <a:ea typeface="Calibri"/>
                <a:cs typeface="Calibri"/>
              </a:defRPr>
            </a:pPr>
            <a:r>
              <a:rPr sz="1875" b="0">
                <a:solidFill>
                  <a:srgbClr val="294E70"/>
                </a:solidFill>
                <a:latin typeface="Calibri"/>
                <a:ea typeface="Calibri"/>
                <a:cs typeface="Calibri"/>
              </a:rPr>
              <a:t>Disponibilidad, latencia, filesystem, tablespaces y bloqueos</a:t>
            </a:r>
          </a:p>
        </p:txBody>
      </p:sp>
    </p:spTree>
    <p:extLst>
      <p:ext uri="{BB962C8B-B14F-4D97-AF65-F5344CB8AC3E}">
        <p14:creationId xmlns:p14="http://schemas.microsoft.com/office/powerpoint/2010/main" val="17536947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57CF57-A9F9-4546-A23A-8A7F34FA1F86}"/>
              </a:ext>
            </a:extLst>
          </p:cNvPr>
          <p:cNvSpPr>
            <a:spLocks xmlns:a="http://schemas.openxmlformats.org/drawingml/2006/main" noGrp="1"/>
          </p:cNvSpPr>
          <p:nvPr/>
        </p:nvSpPr>
        <p:spPr>
          <a:xfrm xmlns:a="http://schemas.openxmlformats.org/drawingml/2006/main">
            <a:off x="647700" y="43815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635"/>
                </a:solidFill>
                <a:latin typeface="Calibri"/>
                <a:ea typeface="Calibri"/>
                <a:cs typeface="Calibri"/>
              </a:defRPr>
            </a:defPPr>
          </a:lstStyle>
          <a:p xmlns:a="http://schemas.openxmlformats.org/drawingml/2006/main">
            <a:pPr>
              <a:defRPr sz="3150" b="1">
                <a:solidFill>
                  <a:srgbClr val="172635"/>
                </a:solidFill>
                <a:latin typeface="Calibri"/>
                <a:ea typeface="Calibri"/>
                <a:cs typeface="Calibri"/>
              </a:defRPr>
            </a:pPr>
            <a:r>
              <a:rPr sz="3150" b="1">
                <a:solidFill>
                  <a:srgbClr val="172635"/>
                </a:solidFill>
                <a:latin typeface="Calibri"/>
                <a:ea typeface="Calibri"/>
                <a:cs typeface="Calibri"/>
              </a:rPr>
              <a:t>Las cinco vistas del modelo 4+1</a:t>
            </a:r>
          </a:p>
        </p:txBody>
      </p:sp>
      <p:sp>
        <p:nvSpPr>
          <p:cNvPr id="2" name="">
            <a:extLst xmlns:a="http://schemas.openxmlformats.org/drawingml/2006/main">
              <a:ext uri="{FF2B5EF4-FFF2-40B4-BE49-F238E27FC236}">
                <a16:creationId xmlns:a16="http://schemas.microsoft.com/office/drawing/2014/main" id="{F3C54ADA-3B1B-4748-A627-096A4C1D7ECF}"/>
              </a:ext>
            </a:extLst>
          </p:cNvPr>
          <p:cNvSpPr>
            <a:spLocks xmlns:a="http://schemas.openxmlformats.org/drawingml/2006/main" noGrp="1"/>
          </p:cNvSpPr>
          <p:nvPr/>
        </p:nvSpPr>
        <p:spPr>
          <a:xfrm xmlns:a="http://schemas.openxmlformats.org/drawingml/2006/main">
            <a:off x="647700" y="16383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94E70"/>
                </a:solidFill>
                <a:latin typeface="Calibri"/>
                <a:ea typeface="Calibri"/>
                <a:cs typeface="Calibri"/>
              </a:defRPr>
            </a:defPPr>
          </a:lstStyle>
          <a:p xmlns:a="http://schemas.openxmlformats.org/drawingml/2006/main">
            <a:pPr>
              <a:defRPr sz="2175" b="1">
                <a:solidFill>
                  <a:srgbClr val="294E70"/>
                </a:solidFill>
                <a:latin typeface="Calibri"/>
                <a:ea typeface="Calibri"/>
                <a:cs typeface="Calibri"/>
              </a:defRPr>
            </a:pPr>
            <a:r>
              <a:rPr sz="2175" b="1">
                <a:solidFill>
                  <a:srgbClr val="294E70"/>
                </a:solidFill>
                <a:latin typeface="Calibri"/>
                <a:ea typeface="Calibri"/>
                <a:cs typeface="Calibri"/>
              </a:rPr>
              <a:t>Lógica</a:t>
            </a:r>
          </a:p>
        </p:txBody>
      </p:sp>
      <p:sp>
        <p:nvSpPr>
          <p:cNvPr id="3" name="">
            <a:extLst xmlns:a="http://schemas.openxmlformats.org/drawingml/2006/main">
              <a:ext uri="{FF2B5EF4-FFF2-40B4-BE49-F238E27FC236}">
                <a16:creationId xmlns:a16="http://schemas.microsoft.com/office/drawing/2014/main" id="{91BF3A0B-A3CE-4D85-94B3-0E05EAC48948}"/>
              </a:ext>
            </a:extLst>
          </p:cNvPr>
          <p:cNvSpPr>
            <a:spLocks xmlns:a="http://schemas.openxmlformats.org/drawingml/2006/main" noGrp="1"/>
          </p:cNvSpPr>
          <p:nvPr/>
        </p:nvSpPr>
        <p:spPr>
          <a:xfrm xmlns:a="http://schemas.openxmlformats.org/drawingml/2006/main">
            <a:off x="3171825" y="1657350"/>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635"/>
                </a:solidFill>
                <a:latin typeface="Calibri"/>
                <a:ea typeface="Calibri"/>
                <a:cs typeface="Calibri"/>
              </a:defRPr>
            </a:defPPr>
          </a:lstStyle>
          <a:p xmlns:a="http://schemas.openxmlformats.org/drawingml/2006/main">
            <a:pPr>
              <a:defRPr sz="2025" b="0">
                <a:solidFill>
                  <a:srgbClr val="172635"/>
                </a:solidFill>
                <a:latin typeface="Calibri"/>
                <a:ea typeface="Calibri"/>
                <a:cs typeface="Calibri"/>
              </a:defRPr>
            </a:pPr>
            <a:r>
              <a:rPr sz="2025" b="0">
                <a:solidFill>
                  <a:srgbClr val="172635"/>
                </a:solidFill>
                <a:latin typeface="Calibri"/>
                <a:ea typeface="Calibri"/>
                <a:cs typeface="Calibri"/>
              </a:rPr>
              <a:t>Servidor, base, agente, control, configuración y resultado</a:t>
            </a:r>
          </a:p>
        </p:txBody>
      </p:sp>
      <p:sp>
        <p:nvSpPr>
          <p:cNvPr id="4" name="">
            <a:extLst xmlns:a="http://schemas.openxmlformats.org/drawingml/2006/main">
              <a:ext uri="{FF2B5EF4-FFF2-40B4-BE49-F238E27FC236}">
                <a16:creationId xmlns:a16="http://schemas.microsoft.com/office/drawing/2014/main" id="{4D6B66AB-CD52-4C16-BAB9-F6ED356D757A}"/>
              </a:ext>
            </a:extLst>
          </p:cNvPr>
          <p:cNvSpPr>
            <a:spLocks xmlns:a="http://schemas.openxmlformats.org/drawingml/2006/main" noGrp="1"/>
          </p:cNvSpPr>
          <p:nvPr/>
        </p:nvSpPr>
        <p:spPr>
          <a:xfrm xmlns:a="http://schemas.openxmlformats.org/drawingml/2006/main">
            <a:off x="647700" y="24860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94E70"/>
                </a:solidFill>
                <a:latin typeface="Calibri"/>
                <a:ea typeface="Calibri"/>
                <a:cs typeface="Calibri"/>
              </a:defRPr>
            </a:defPPr>
          </a:lstStyle>
          <a:p xmlns:a="http://schemas.openxmlformats.org/drawingml/2006/main">
            <a:pPr>
              <a:defRPr sz="2175" b="1">
                <a:solidFill>
                  <a:srgbClr val="294E70"/>
                </a:solidFill>
                <a:latin typeface="Calibri"/>
                <a:ea typeface="Calibri"/>
                <a:cs typeface="Calibri"/>
              </a:defRPr>
            </a:pPr>
            <a:r>
              <a:rPr sz="2175" b="1">
                <a:solidFill>
                  <a:srgbClr val="294E70"/>
                </a:solidFill>
                <a:latin typeface="Calibri"/>
                <a:ea typeface="Calibri"/>
                <a:cs typeface="Calibri"/>
              </a:rPr>
              <a:t>Desarrollo</a:t>
            </a:r>
          </a:p>
        </p:txBody>
      </p:sp>
      <p:sp>
        <p:nvSpPr>
          <p:cNvPr id="5" name="">
            <a:extLst xmlns:a="http://schemas.openxmlformats.org/drawingml/2006/main">
              <a:ext uri="{FF2B5EF4-FFF2-40B4-BE49-F238E27FC236}">
                <a16:creationId xmlns:a16="http://schemas.microsoft.com/office/drawing/2014/main" id="{21517466-73C0-400D-86A7-663C9FD67ACE}"/>
              </a:ext>
            </a:extLst>
          </p:cNvPr>
          <p:cNvSpPr>
            <a:spLocks xmlns:a="http://schemas.openxmlformats.org/drawingml/2006/main" noGrp="1"/>
          </p:cNvSpPr>
          <p:nvPr/>
        </p:nvSpPr>
        <p:spPr>
          <a:xfrm xmlns:a="http://schemas.openxmlformats.org/drawingml/2006/main">
            <a:off x="3171825" y="250507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635"/>
                </a:solidFill>
                <a:latin typeface="Calibri"/>
                <a:ea typeface="Calibri"/>
                <a:cs typeface="Calibri"/>
              </a:defRPr>
            </a:defPPr>
          </a:lstStyle>
          <a:p xmlns:a="http://schemas.openxmlformats.org/drawingml/2006/main">
            <a:pPr>
              <a:defRPr sz="2025" b="0">
                <a:solidFill>
                  <a:srgbClr val="172635"/>
                </a:solidFill>
                <a:latin typeface="Calibri"/>
                <a:ea typeface="Calibri"/>
                <a:cs typeface="Calibri"/>
              </a:defRPr>
            </a:pPr>
            <a:r>
              <a:rPr sz="2025" b="0">
                <a:solidFill>
                  <a:srgbClr val="172635"/>
                </a:solidFill>
                <a:latin typeface="Calibri"/>
                <a:ea typeface="Calibri"/>
                <a:cs typeface="Calibri"/>
              </a:rPr>
              <a:t>Agente, API, dashboard, datos y contrato REST</a:t>
            </a:r>
          </a:p>
        </p:txBody>
      </p:sp>
      <p:sp>
        <p:nvSpPr>
          <p:cNvPr id="6" name="">
            <a:extLst xmlns:a="http://schemas.openxmlformats.org/drawingml/2006/main">
              <a:ext uri="{FF2B5EF4-FFF2-40B4-BE49-F238E27FC236}">
                <a16:creationId xmlns:a16="http://schemas.microsoft.com/office/drawing/2014/main" id="{7655A6CE-3338-42BE-902C-673734A6093D}"/>
              </a:ext>
            </a:extLst>
          </p:cNvPr>
          <p:cNvSpPr>
            <a:spLocks xmlns:a="http://schemas.openxmlformats.org/drawingml/2006/main" noGrp="1"/>
          </p:cNvSpPr>
          <p:nvPr/>
        </p:nvSpPr>
        <p:spPr>
          <a:xfrm xmlns:a="http://schemas.openxmlformats.org/drawingml/2006/main">
            <a:off x="647700" y="333375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94E70"/>
                </a:solidFill>
                <a:latin typeface="Calibri"/>
                <a:ea typeface="Calibri"/>
                <a:cs typeface="Calibri"/>
              </a:defRPr>
            </a:defPPr>
          </a:lstStyle>
          <a:p xmlns:a="http://schemas.openxmlformats.org/drawingml/2006/main">
            <a:pPr>
              <a:defRPr sz="2175" b="1">
                <a:solidFill>
                  <a:srgbClr val="294E70"/>
                </a:solidFill>
                <a:latin typeface="Calibri"/>
                <a:ea typeface="Calibri"/>
                <a:cs typeface="Calibri"/>
              </a:defRPr>
            </a:pPr>
            <a:r>
              <a:rPr sz="2175" b="1">
                <a:solidFill>
                  <a:srgbClr val="294E70"/>
                </a:solidFill>
                <a:latin typeface="Calibri"/>
                <a:ea typeface="Calibri"/>
                <a:cs typeface="Calibri"/>
              </a:rPr>
              <a:t>Procesos</a:t>
            </a:r>
          </a:p>
        </p:txBody>
      </p:sp>
      <p:sp>
        <p:nvSpPr>
          <p:cNvPr id="7" name="">
            <a:extLst xmlns:a="http://schemas.openxmlformats.org/drawingml/2006/main">
              <a:ext uri="{FF2B5EF4-FFF2-40B4-BE49-F238E27FC236}">
                <a16:creationId xmlns:a16="http://schemas.microsoft.com/office/drawing/2014/main" id="{22154DDD-A165-4524-9F85-07C8E7EBDBD5}"/>
              </a:ext>
            </a:extLst>
          </p:cNvPr>
          <p:cNvSpPr>
            <a:spLocks xmlns:a="http://schemas.openxmlformats.org/drawingml/2006/main" noGrp="1"/>
          </p:cNvSpPr>
          <p:nvPr/>
        </p:nvSpPr>
        <p:spPr>
          <a:xfrm xmlns:a="http://schemas.openxmlformats.org/drawingml/2006/main">
            <a:off x="3171825" y="3352800"/>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635"/>
                </a:solidFill>
                <a:latin typeface="Calibri"/>
                <a:ea typeface="Calibri"/>
                <a:cs typeface="Calibri"/>
              </a:defRPr>
            </a:defPPr>
          </a:lstStyle>
          <a:p xmlns:a="http://schemas.openxmlformats.org/drawingml/2006/main">
            <a:pPr>
              <a:defRPr sz="2025" b="0">
                <a:solidFill>
                  <a:srgbClr val="172635"/>
                </a:solidFill>
                <a:latin typeface="Calibri"/>
                <a:ea typeface="Calibri"/>
                <a:cs typeface="Calibri"/>
              </a:defRPr>
            </a:pPr>
            <a:r>
              <a:rPr sz="2025" b="0">
                <a:solidFill>
                  <a:srgbClr val="172635"/>
                </a:solidFill>
                <a:latin typeface="Calibri"/>
                <a:ea typeface="Calibri"/>
                <a:cs typeface="Calibri"/>
              </a:rPr>
              <a:t>Controles concurrentes y recepción sincronizada</a:t>
            </a:r>
          </a:p>
        </p:txBody>
      </p:sp>
      <p:sp>
        <p:nvSpPr>
          <p:cNvPr id="8" name="">
            <a:extLst xmlns:a="http://schemas.openxmlformats.org/drawingml/2006/main">
              <a:ext uri="{FF2B5EF4-FFF2-40B4-BE49-F238E27FC236}">
                <a16:creationId xmlns:a16="http://schemas.microsoft.com/office/drawing/2014/main" id="{227AD761-1EA5-45E5-ACD0-A152E92E8505}"/>
              </a:ext>
            </a:extLst>
          </p:cNvPr>
          <p:cNvSpPr>
            <a:spLocks xmlns:a="http://schemas.openxmlformats.org/drawingml/2006/main" noGrp="1"/>
          </p:cNvSpPr>
          <p:nvPr/>
        </p:nvSpPr>
        <p:spPr>
          <a:xfrm xmlns:a="http://schemas.openxmlformats.org/drawingml/2006/main">
            <a:off x="647700" y="418147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94E70"/>
                </a:solidFill>
                <a:latin typeface="Calibri"/>
                <a:ea typeface="Calibri"/>
                <a:cs typeface="Calibri"/>
              </a:defRPr>
            </a:defPPr>
          </a:lstStyle>
          <a:p xmlns:a="http://schemas.openxmlformats.org/drawingml/2006/main">
            <a:pPr>
              <a:defRPr sz="2175" b="1">
                <a:solidFill>
                  <a:srgbClr val="294E70"/>
                </a:solidFill>
                <a:latin typeface="Calibri"/>
                <a:ea typeface="Calibri"/>
                <a:cs typeface="Calibri"/>
              </a:defRPr>
            </a:pPr>
            <a:r>
              <a:rPr sz="2175" b="1">
                <a:solidFill>
                  <a:srgbClr val="294E70"/>
                </a:solidFill>
                <a:latin typeface="Calibri"/>
                <a:ea typeface="Calibri"/>
                <a:cs typeface="Calibri"/>
              </a:rPr>
              <a:t>Física</a:t>
            </a:r>
          </a:p>
        </p:txBody>
      </p:sp>
      <p:sp>
        <p:nvSpPr>
          <p:cNvPr id="9" name="">
            <a:extLst xmlns:a="http://schemas.openxmlformats.org/drawingml/2006/main">
              <a:ext uri="{FF2B5EF4-FFF2-40B4-BE49-F238E27FC236}">
                <a16:creationId xmlns:a16="http://schemas.microsoft.com/office/drawing/2014/main" id="{10DDC111-2F7A-4ED5-B8D1-395E2C9734F0}"/>
              </a:ext>
            </a:extLst>
          </p:cNvPr>
          <p:cNvSpPr>
            <a:spLocks xmlns:a="http://schemas.openxmlformats.org/drawingml/2006/main" noGrp="1"/>
          </p:cNvSpPr>
          <p:nvPr/>
        </p:nvSpPr>
        <p:spPr>
          <a:xfrm xmlns:a="http://schemas.openxmlformats.org/drawingml/2006/main">
            <a:off x="3171825" y="42005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635"/>
                </a:solidFill>
                <a:latin typeface="Calibri"/>
                <a:ea typeface="Calibri"/>
                <a:cs typeface="Calibri"/>
              </a:defRPr>
            </a:defPPr>
          </a:lstStyle>
          <a:p xmlns:a="http://schemas.openxmlformats.org/drawingml/2006/main">
            <a:pPr>
              <a:defRPr sz="2025" b="0">
                <a:solidFill>
                  <a:srgbClr val="172635"/>
                </a:solidFill>
                <a:latin typeface="Calibri"/>
                <a:ea typeface="Calibri"/>
                <a:cs typeface="Calibri"/>
              </a:defRPr>
            </a:pPr>
            <a:r>
              <a:rPr sz="2025" b="0">
                <a:solidFill>
                  <a:srgbClr val="172635"/>
                </a:solidFill>
                <a:latin typeface="Calibri"/>
                <a:ea typeface="Calibri"/>
                <a:cs typeface="Calibri"/>
              </a:rPr>
              <a:t>Tres nodos monitoreados y un nodo central</a:t>
            </a:r>
          </a:p>
        </p:txBody>
      </p:sp>
      <p:sp>
        <p:nvSpPr>
          <p:cNvPr id="10" name="">
            <a:extLst xmlns:a="http://schemas.openxmlformats.org/drawingml/2006/main">
              <a:ext uri="{FF2B5EF4-FFF2-40B4-BE49-F238E27FC236}">
                <a16:creationId xmlns:a16="http://schemas.microsoft.com/office/drawing/2014/main" id="{D0DA7898-6F03-470A-B006-A862DFB1CFBA}"/>
              </a:ext>
            </a:extLst>
          </p:cNvPr>
          <p:cNvSpPr>
            <a:spLocks xmlns:a="http://schemas.openxmlformats.org/drawingml/2006/main" noGrp="1"/>
          </p:cNvSpPr>
          <p:nvPr/>
        </p:nvSpPr>
        <p:spPr>
          <a:xfrm xmlns:a="http://schemas.openxmlformats.org/drawingml/2006/main">
            <a:off x="647700" y="50292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94E70"/>
                </a:solidFill>
                <a:latin typeface="Calibri"/>
                <a:ea typeface="Calibri"/>
                <a:cs typeface="Calibri"/>
              </a:defRPr>
            </a:defPPr>
          </a:lstStyle>
          <a:p xmlns:a="http://schemas.openxmlformats.org/drawingml/2006/main">
            <a:pPr>
              <a:defRPr sz="2175" b="1">
                <a:solidFill>
                  <a:srgbClr val="294E70"/>
                </a:solidFill>
                <a:latin typeface="Calibri"/>
                <a:ea typeface="Calibri"/>
                <a:cs typeface="Calibri"/>
              </a:defRPr>
            </a:pPr>
            <a:r>
              <a:rPr sz="2175" b="1">
                <a:solidFill>
                  <a:srgbClr val="294E70"/>
                </a:solidFill>
                <a:latin typeface="Calibri"/>
                <a:ea typeface="Calibri"/>
                <a:cs typeface="Calibri"/>
              </a:rPr>
              <a:t>Escenarios</a:t>
            </a:r>
          </a:p>
        </p:txBody>
      </p:sp>
      <p:sp>
        <p:nvSpPr>
          <p:cNvPr id="11" name="">
            <a:extLst xmlns:a="http://schemas.openxmlformats.org/drawingml/2006/main">
              <a:ext uri="{FF2B5EF4-FFF2-40B4-BE49-F238E27FC236}">
                <a16:creationId xmlns:a16="http://schemas.microsoft.com/office/drawing/2014/main" id="{A6B7644A-D5C1-48AB-8081-2BF86FECC864}"/>
              </a:ext>
            </a:extLst>
          </p:cNvPr>
          <p:cNvSpPr>
            <a:spLocks xmlns:a="http://schemas.openxmlformats.org/drawingml/2006/main" noGrp="1"/>
          </p:cNvSpPr>
          <p:nvPr/>
        </p:nvSpPr>
        <p:spPr>
          <a:xfrm xmlns:a="http://schemas.openxmlformats.org/drawingml/2006/main">
            <a:off x="3171825" y="5048250"/>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635"/>
                </a:solidFill>
                <a:latin typeface="Calibri"/>
                <a:ea typeface="Calibri"/>
                <a:cs typeface="Calibri"/>
              </a:defRPr>
            </a:defPPr>
          </a:lstStyle>
          <a:p xmlns:a="http://schemas.openxmlformats.org/drawingml/2006/main">
            <a:pPr>
              <a:defRPr sz="2025" b="0">
                <a:solidFill>
                  <a:srgbClr val="172635"/>
                </a:solidFill>
                <a:latin typeface="Calibri"/>
                <a:ea typeface="Calibri"/>
                <a:cs typeface="Calibri"/>
              </a:defRPr>
            </a:pPr>
            <a:r>
              <a:rPr sz="2025" b="0">
                <a:solidFill>
                  <a:srgbClr val="172635"/>
                </a:solidFill>
                <a:latin typeface="Calibri"/>
                <a:ea typeface="Calibri"/>
                <a:cs typeface="Calibri"/>
              </a:rPr>
              <a:t>Consulta de estado, cambio de frecuencia y pérdida de contacto</a:t>
            </a:r>
          </a:p>
        </p:txBody>
      </p:sp>
    </p:spTree>
    <p:extLst>
      <p:ext uri="{BB962C8B-B14F-4D97-AF65-F5344CB8AC3E}">
        <p14:creationId xmlns:p14="http://schemas.microsoft.com/office/powerpoint/2010/main" val="7279422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618122D5-D6CA-43D9-B8D6-6FA10D1E0679}"/>
              </a:ext>
            </a:extLst>
          </p:cNvPr>
          <p:cNvCxnSpPr>
            <a:stCxn xmlns:a="http://schemas.openxmlformats.org/drawingml/2006/main" id="13" idx="2"/>
            <a:endCxn xmlns:a="http://schemas.openxmlformats.org/drawingml/2006/main" id="16" idx="0"/>
          </p:cNvCxnSpPr>
          <p:nvPr/>
        </p:nvCxnSpPr>
        <p:spPr>
          <a:xfrm xmlns:a="http://schemas.openxmlformats.org/drawingml/2006/main">
            <a:off x="8877300" y="3152775"/>
            <a:ext cx="0" cy="285750"/>
          </a:xfrm>
          <a:prstGeom xmlns:a="http://schemas.openxmlformats.org/drawingml/2006/main" prst="straightConnector1">
            <a:avLst/>
          </a:prstGeom>
          <a:ln xmlns:a="http://schemas.openxmlformats.org/drawingml/2006/main" w="19050">
            <a:solidFill>
              <a:srgbClr val="294E70"/>
            </a:solidFill>
            <a:headEnd type="arrow" w="med" len="med"/>
            <a:tailEnd type="arrow" w="med" len="med"/>
          </a:ln>
        </p:spPr>
      </p:cxnSp>
      <p:cxnSp>
        <p:nvCxnSpPr>
          <p:cNvPr id="22" name="">
            <a:extLst xmlns:a="http://schemas.openxmlformats.org/drawingml/2006/main">
              <a:ext uri="{FF2B5EF4-FFF2-40B4-BE49-F238E27FC236}">
                <a16:creationId xmlns:a16="http://schemas.microsoft.com/office/drawing/2014/main" id="{796938D5-9C97-4080-8F92-5D7B3589FECF}"/>
              </a:ext>
            </a:extLst>
          </p:cNvPr>
          <p:cNvCxnSpPr>
            <a:stCxn xmlns:a="http://schemas.openxmlformats.org/drawingml/2006/main" id="8" idx="3"/>
            <a:endCxn xmlns:a="http://schemas.openxmlformats.org/drawingml/2006/main" id="13" idx="1"/>
          </p:cNvCxnSpPr>
          <p:nvPr/>
        </p:nvCxnSpPr>
        <p:spPr>
          <a:xfrm xmlns:a="http://schemas.openxmlformats.org/drawingml/2006/main" flipV="1">
            <a:off x="4076700" y="2676525"/>
            <a:ext cx="2524125" cy="2095500"/>
          </a:xfrm>
          <a:prstGeom xmlns:a="http://schemas.openxmlformats.org/drawingml/2006/main" prst="bentConnector3">
            <a:avLst>
              <a:gd name="adj1" fmla="val 50000"/>
            </a:avLst>
          </a:prstGeom>
          <a:ln xmlns:a="http://schemas.openxmlformats.org/drawingml/2006/main" w="19050">
            <a:solidFill>
              <a:srgbClr val="294E70"/>
            </a:solidFill>
            <a:headEnd type="arrow" w="med" len="med"/>
            <a:tailEnd type="arrow" w="med" len="med"/>
          </a:ln>
        </p:spPr>
      </p:cxnSp>
      <p:cxnSp>
        <p:nvCxnSpPr>
          <p:cNvPr id="21" name="">
            <a:extLst xmlns:a="http://schemas.openxmlformats.org/drawingml/2006/main">
              <a:ext uri="{FF2B5EF4-FFF2-40B4-BE49-F238E27FC236}">
                <a16:creationId xmlns:a16="http://schemas.microsoft.com/office/drawing/2014/main" id="{4E67A6B6-2693-4A48-B335-22164FB85B0F}"/>
              </a:ext>
            </a:extLst>
          </p:cNvPr>
          <p:cNvCxnSpPr>
            <a:stCxn xmlns:a="http://schemas.openxmlformats.org/drawingml/2006/main" id="5" idx="3"/>
            <a:endCxn xmlns:a="http://schemas.openxmlformats.org/drawingml/2006/main" id="13" idx="1"/>
          </p:cNvCxnSpPr>
          <p:nvPr/>
        </p:nvCxnSpPr>
        <p:spPr>
          <a:xfrm xmlns:a="http://schemas.openxmlformats.org/drawingml/2006/main" flipV="1">
            <a:off x="4076700" y="2676525"/>
            <a:ext cx="2524125" cy="781050"/>
          </a:xfrm>
          <a:prstGeom xmlns:a="http://schemas.openxmlformats.org/drawingml/2006/main" prst="bentConnector3">
            <a:avLst>
              <a:gd name="adj1" fmla="val 50000"/>
            </a:avLst>
          </a:prstGeom>
          <a:ln xmlns:a="http://schemas.openxmlformats.org/drawingml/2006/main" w="19050">
            <a:solidFill>
              <a:srgbClr val="294E70"/>
            </a:solidFill>
            <a:headEnd type="arrow" w="med" len="med"/>
            <a:tailEnd type="arrow" w="med" len="med"/>
          </a:ln>
        </p:spPr>
      </p:cxnSp>
      <p:cxnSp>
        <p:nvCxnSpPr>
          <p:cNvPr id="20" name="">
            <a:extLst xmlns:a="http://schemas.openxmlformats.org/drawingml/2006/main">
              <a:ext uri="{FF2B5EF4-FFF2-40B4-BE49-F238E27FC236}">
                <a16:creationId xmlns:a16="http://schemas.microsoft.com/office/drawing/2014/main" id="{25F825F6-0EC5-4F9E-88AE-1C9A9A45F6FB}"/>
              </a:ext>
            </a:extLst>
          </p:cNvPr>
          <p:cNvCxnSpPr>
            <a:stCxn xmlns:a="http://schemas.openxmlformats.org/drawingml/2006/main" id="2" idx="3"/>
            <a:endCxn xmlns:a="http://schemas.openxmlformats.org/drawingml/2006/main" id="13" idx="1"/>
          </p:cNvCxnSpPr>
          <p:nvPr/>
        </p:nvCxnSpPr>
        <p:spPr>
          <a:xfrm xmlns:a="http://schemas.openxmlformats.org/drawingml/2006/main">
            <a:off x="4076700" y="2143125"/>
            <a:ext cx="2524125" cy="533400"/>
          </a:xfrm>
          <a:prstGeom xmlns:a="http://schemas.openxmlformats.org/drawingml/2006/main" prst="bentConnector3">
            <a:avLst>
              <a:gd name="adj1" fmla="val 50000"/>
            </a:avLst>
          </a:prstGeom>
          <a:ln xmlns:a="http://schemas.openxmlformats.org/drawingml/2006/main" w="19050">
            <a:solidFill>
              <a:srgbClr val="294E70"/>
            </a:solidFill>
            <a:headEnd type="arrow" w="med" len="med"/>
            <a:tailEnd type="arrow" w="med" len="med"/>
          </a:ln>
        </p:spPr>
      </p:cxnSp>
      <p:sp>
        <p:nvSpPr>
          <p:cNvPr id="26" name="">
            <a:extLst xmlns:a="http://schemas.openxmlformats.org/drawingml/2006/main">
              <a:ext uri="{FF2B5EF4-FFF2-40B4-BE49-F238E27FC236}">
                <a16:creationId xmlns:a16="http://schemas.microsoft.com/office/drawing/2014/main" id="{5192923C-EFB5-4684-A408-A80C29B72703}"/>
              </a:ext>
            </a:extLst>
          </p:cNvPr>
          <p:cNvSpPr>
            <a:spLocks xmlns:a="http://schemas.openxmlformats.org/drawingml/2006/main" noGrp="1"/>
          </p:cNvSpPr>
          <p:nvPr/>
        </p:nvSpPr>
        <p:spPr>
          <a:xfrm xmlns:a="http://schemas.openxmlformats.org/drawingml/2006/main">
            <a:off x="647700" y="43815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635"/>
                </a:solidFill>
                <a:latin typeface="Calibri"/>
                <a:ea typeface="Calibri"/>
                <a:cs typeface="Calibri"/>
              </a:defRPr>
            </a:defPPr>
          </a:lstStyle>
          <a:p xmlns:a="http://schemas.openxmlformats.org/drawingml/2006/main">
            <a:pPr>
              <a:defRPr sz="3150" b="1">
                <a:solidFill>
                  <a:srgbClr val="172635"/>
                </a:solidFill>
                <a:latin typeface="Calibri"/>
                <a:ea typeface="Calibri"/>
                <a:cs typeface="Calibri"/>
              </a:defRPr>
            </a:pPr>
            <a:r>
              <a:rPr sz="3150" b="1">
                <a:solidFill>
                  <a:srgbClr val="172635"/>
                </a:solidFill>
                <a:latin typeface="Calibri"/>
                <a:ea typeface="Calibri"/>
                <a:cs typeface="Calibri"/>
              </a:rPr>
              <a:t>Despliegue y comunicación</a:t>
            </a:r>
          </a:p>
        </p:txBody>
      </p:sp>
      <p:sp>
        <p:nvSpPr>
          <p:cNvPr id="2" name="">
            <a:extLst xmlns:a="http://schemas.openxmlformats.org/drawingml/2006/main">
              <a:ext uri="{FF2B5EF4-FFF2-40B4-BE49-F238E27FC236}">
                <a16:creationId xmlns:a16="http://schemas.microsoft.com/office/drawing/2014/main" id="{EA787125-17E3-4335-995D-FC5802003B0E}"/>
              </a:ext>
            </a:extLst>
          </p:cNvPr>
          <p:cNvSpPr>
            <a:spLocks xmlns:a="http://schemas.openxmlformats.org/drawingml/2006/main" noGrp="1"/>
          </p:cNvSpPr>
          <p:nvPr/>
        </p:nvSpPr>
        <p:spPr>
          <a:xfrm xmlns:a="http://schemas.openxmlformats.org/drawingml/2006/main">
            <a:off x="647700" y="1638300"/>
            <a:ext cx="3429000" cy="1009650"/>
          </a:xfrm>
          <a:prstGeom xmlns:a="http://schemas.openxmlformats.org/drawingml/2006/main" prst="rect">
            <a:avLst/>
          </a:prstGeom>
          <a:solidFill xmlns:a="http://schemas.openxmlformats.org/drawingml/2006/main">
            <a:srgbClr val="EEF3F8"/>
          </a:solidFill>
          <a:ln xmlns:a="http://schemas.openxmlformats.org/drawingml/2006/main" w="12383">
            <a:solidFill>
              <a:srgbClr val="75879A"/>
            </a:solidFill>
          </a:ln>
        </p:spPr>
      </p:sp>
      <p:sp>
        <p:nvSpPr>
          <p:cNvPr id="3" name="">
            <a:extLst xmlns:a="http://schemas.openxmlformats.org/drawingml/2006/main">
              <a:ext uri="{FF2B5EF4-FFF2-40B4-BE49-F238E27FC236}">
                <a16:creationId xmlns:a16="http://schemas.microsoft.com/office/drawing/2014/main" id="{9209D355-CC90-44E9-98E9-FCFC0D118E0E}"/>
              </a:ext>
            </a:extLst>
          </p:cNvPr>
          <p:cNvSpPr>
            <a:spLocks xmlns:a="http://schemas.openxmlformats.org/drawingml/2006/main" noGrp="1"/>
          </p:cNvSpPr>
          <p:nvPr/>
        </p:nvSpPr>
        <p:spPr>
          <a:xfrm xmlns:a="http://schemas.openxmlformats.org/drawingml/2006/main">
            <a:off x="800100" y="1743075"/>
            <a:ext cx="3124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2635"/>
                </a:solidFill>
                <a:latin typeface="Calibri"/>
                <a:ea typeface="Calibri"/>
                <a:cs typeface="Calibri"/>
              </a:defRPr>
            </a:defPPr>
          </a:lstStyle>
          <a:p xmlns:a="http://schemas.openxmlformats.org/drawingml/2006/main">
            <a:pPr>
              <a:defRPr sz="1875" b="1">
                <a:solidFill>
                  <a:srgbClr val="172635"/>
                </a:solidFill>
                <a:latin typeface="Calibri"/>
                <a:ea typeface="Calibri"/>
                <a:cs typeface="Calibri"/>
              </a:defRPr>
            </a:pPr>
            <a:r>
              <a:rPr sz="1875" b="1">
                <a:solidFill>
                  <a:srgbClr val="172635"/>
                </a:solidFill>
                <a:latin typeface="Calibri"/>
                <a:ea typeface="Calibri"/>
                <a:cs typeface="Calibri"/>
              </a:rPr>
              <a:t>Nodo 1</a:t>
            </a:r>
          </a:p>
        </p:txBody>
      </p:sp>
      <p:sp>
        <p:nvSpPr>
          <p:cNvPr id="4" name="">
            <a:extLst xmlns:a="http://schemas.openxmlformats.org/drawingml/2006/main">
              <a:ext uri="{FF2B5EF4-FFF2-40B4-BE49-F238E27FC236}">
                <a16:creationId xmlns:a16="http://schemas.microsoft.com/office/drawing/2014/main" id="{484C3DD7-F039-4C11-BC23-F77CECD5E867}"/>
              </a:ext>
            </a:extLst>
          </p:cNvPr>
          <p:cNvSpPr>
            <a:spLocks xmlns:a="http://schemas.openxmlformats.org/drawingml/2006/main" noGrp="1"/>
          </p:cNvSpPr>
          <p:nvPr/>
        </p:nvSpPr>
        <p:spPr>
          <a:xfrm xmlns:a="http://schemas.openxmlformats.org/drawingml/2006/main">
            <a:off x="800100" y="2114550"/>
            <a:ext cx="312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2635"/>
                </a:solidFill>
                <a:latin typeface="Calibri"/>
                <a:ea typeface="Calibri"/>
                <a:cs typeface="Calibri"/>
              </a:defRPr>
            </a:defPPr>
          </a:lstStyle>
          <a:p xmlns:a="http://schemas.openxmlformats.org/drawingml/2006/main">
            <a:pPr>
              <a:defRPr sz="1650" b="0">
                <a:solidFill>
                  <a:srgbClr val="172635"/>
                </a:solidFill>
                <a:latin typeface="Calibri"/>
                <a:ea typeface="Calibri"/>
                <a:cs typeface="Calibri"/>
              </a:defRPr>
            </a:pPr>
            <a:r>
              <a:rPr sz="1650" b="0">
                <a:solidFill>
                  <a:srgbClr val="172635"/>
                </a:solidFill>
                <a:latin typeface="Calibri"/>
                <a:ea typeface="Calibri"/>
                <a:cs typeface="Calibri"/>
              </a:rPr>
              <a:t>Linux, Oracle y agente</a:t>
            </a:r>
          </a:p>
        </p:txBody>
      </p:sp>
      <p:sp>
        <p:nvSpPr>
          <p:cNvPr id="5" name="">
            <a:extLst xmlns:a="http://schemas.openxmlformats.org/drawingml/2006/main">
              <a:ext uri="{FF2B5EF4-FFF2-40B4-BE49-F238E27FC236}">
                <a16:creationId xmlns:a16="http://schemas.microsoft.com/office/drawing/2014/main" id="{66B4802F-6EAA-49FD-B6F7-A0F2C0C08103}"/>
              </a:ext>
            </a:extLst>
          </p:cNvPr>
          <p:cNvSpPr>
            <a:spLocks xmlns:a="http://schemas.openxmlformats.org/drawingml/2006/main" noGrp="1"/>
          </p:cNvSpPr>
          <p:nvPr/>
        </p:nvSpPr>
        <p:spPr>
          <a:xfrm xmlns:a="http://schemas.openxmlformats.org/drawingml/2006/main">
            <a:off x="647700" y="2952750"/>
            <a:ext cx="3429000" cy="1009650"/>
          </a:xfrm>
          <a:prstGeom xmlns:a="http://schemas.openxmlformats.org/drawingml/2006/main" prst="rect">
            <a:avLst/>
          </a:prstGeom>
          <a:solidFill xmlns:a="http://schemas.openxmlformats.org/drawingml/2006/main">
            <a:srgbClr val="EEF3F8"/>
          </a:solidFill>
          <a:ln xmlns:a="http://schemas.openxmlformats.org/drawingml/2006/main" w="12383">
            <a:solidFill>
              <a:srgbClr val="75879A"/>
            </a:solidFill>
          </a:ln>
        </p:spPr>
      </p:sp>
      <p:sp>
        <p:nvSpPr>
          <p:cNvPr id="6" name="">
            <a:extLst xmlns:a="http://schemas.openxmlformats.org/drawingml/2006/main">
              <a:ext uri="{FF2B5EF4-FFF2-40B4-BE49-F238E27FC236}">
                <a16:creationId xmlns:a16="http://schemas.microsoft.com/office/drawing/2014/main" id="{6235D935-A68A-4335-B0F6-2911C1DB93E3}"/>
              </a:ext>
            </a:extLst>
          </p:cNvPr>
          <p:cNvSpPr>
            <a:spLocks xmlns:a="http://schemas.openxmlformats.org/drawingml/2006/main" noGrp="1"/>
          </p:cNvSpPr>
          <p:nvPr/>
        </p:nvSpPr>
        <p:spPr>
          <a:xfrm xmlns:a="http://schemas.openxmlformats.org/drawingml/2006/main">
            <a:off x="800100" y="3057525"/>
            <a:ext cx="3124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2635"/>
                </a:solidFill>
                <a:latin typeface="Calibri"/>
                <a:ea typeface="Calibri"/>
                <a:cs typeface="Calibri"/>
              </a:defRPr>
            </a:defPPr>
          </a:lstStyle>
          <a:p xmlns:a="http://schemas.openxmlformats.org/drawingml/2006/main">
            <a:pPr>
              <a:defRPr sz="1875" b="1">
                <a:solidFill>
                  <a:srgbClr val="172635"/>
                </a:solidFill>
                <a:latin typeface="Calibri"/>
                <a:ea typeface="Calibri"/>
                <a:cs typeface="Calibri"/>
              </a:defRPr>
            </a:pPr>
            <a:r>
              <a:rPr sz="1875" b="1">
                <a:solidFill>
                  <a:srgbClr val="172635"/>
                </a:solidFill>
                <a:latin typeface="Calibri"/>
                <a:ea typeface="Calibri"/>
                <a:cs typeface="Calibri"/>
              </a:rPr>
              <a:t>Nodo 2</a:t>
            </a:r>
          </a:p>
        </p:txBody>
      </p:sp>
      <p:sp>
        <p:nvSpPr>
          <p:cNvPr id="7" name="">
            <a:extLst xmlns:a="http://schemas.openxmlformats.org/drawingml/2006/main">
              <a:ext uri="{FF2B5EF4-FFF2-40B4-BE49-F238E27FC236}">
                <a16:creationId xmlns:a16="http://schemas.microsoft.com/office/drawing/2014/main" id="{DB1A4E06-AA34-4240-A843-E5ED0D5A365D}"/>
              </a:ext>
            </a:extLst>
          </p:cNvPr>
          <p:cNvSpPr>
            <a:spLocks xmlns:a="http://schemas.openxmlformats.org/drawingml/2006/main" noGrp="1"/>
          </p:cNvSpPr>
          <p:nvPr/>
        </p:nvSpPr>
        <p:spPr>
          <a:xfrm xmlns:a="http://schemas.openxmlformats.org/drawingml/2006/main">
            <a:off x="800100" y="3429000"/>
            <a:ext cx="312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2635"/>
                </a:solidFill>
                <a:latin typeface="Calibri"/>
                <a:ea typeface="Calibri"/>
                <a:cs typeface="Calibri"/>
              </a:defRPr>
            </a:defPPr>
          </a:lstStyle>
          <a:p xmlns:a="http://schemas.openxmlformats.org/drawingml/2006/main">
            <a:pPr>
              <a:defRPr sz="1650" b="0">
                <a:solidFill>
                  <a:srgbClr val="172635"/>
                </a:solidFill>
                <a:latin typeface="Calibri"/>
                <a:ea typeface="Calibri"/>
                <a:cs typeface="Calibri"/>
              </a:defRPr>
            </a:pPr>
            <a:r>
              <a:rPr sz="1650" b="0">
                <a:solidFill>
                  <a:srgbClr val="172635"/>
                </a:solidFill>
                <a:latin typeface="Calibri"/>
                <a:ea typeface="Calibri"/>
                <a:cs typeface="Calibri"/>
              </a:rPr>
              <a:t>Linux, Oracle y agente</a:t>
            </a:r>
          </a:p>
        </p:txBody>
      </p:sp>
      <p:sp>
        <p:nvSpPr>
          <p:cNvPr id="8" name="">
            <a:extLst xmlns:a="http://schemas.openxmlformats.org/drawingml/2006/main">
              <a:ext uri="{FF2B5EF4-FFF2-40B4-BE49-F238E27FC236}">
                <a16:creationId xmlns:a16="http://schemas.microsoft.com/office/drawing/2014/main" id="{AECC2215-2E78-4A52-90C4-BC9EB0898683}"/>
              </a:ext>
            </a:extLst>
          </p:cNvPr>
          <p:cNvSpPr>
            <a:spLocks xmlns:a="http://schemas.openxmlformats.org/drawingml/2006/main" noGrp="1"/>
          </p:cNvSpPr>
          <p:nvPr/>
        </p:nvSpPr>
        <p:spPr>
          <a:xfrm xmlns:a="http://schemas.openxmlformats.org/drawingml/2006/main">
            <a:off x="647700" y="4267200"/>
            <a:ext cx="3429000" cy="1009650"/>
          </a:xfrm>
          <a:prstGeom xmlns:a="http://schemas.openxmlformats.org/drawingml/2006/main" prst="rect">
            <a:avLst/>
          </a:prstGeom>
          <a:solidFill xmlns:a="http://schemas.openxmlformats.org/drawingml/2006/main">
            <a:srgbClr val="EEF3F8"/>
          </a:solidFill>
          <a:ln xmlns:a="http://schemas.openxmlformats.org/drawingml/2006/main" w="12383">
            <a:solidFill>
              <a:srgbClr val="75879A"/>
            </a:solidFill>
          </a:ln>
        </p:spPr>
      </p:sp>
      <p:sp>
        <p:nvSpPr>
          <p:cNvPr id="9" name="">
            <a:extLst xmlns:a="http://schemas.openxmlformats.org/drawingml/2006/main">
              <a:ext uri="{FF2B5EF4-FFF2-40B4-BE49-F238E27FC236}">
                <a16:creationId xmlns:a16="http://schemas.microsoft.com/office/drawing/2014/main" id="{154E7FD2-A9CE-4070-986C-9F18946BB28C}"/>
              </a:ext>
            </a:extLst>
          </p:cNvPr>
          <p:cNvSpPr>
            <a:spLocks xmlns:a="http://schemas.openxmlformats.org/drawingml/2006/main" noGrp="1"/>
          </p:cNvSpPr>
          <p:nvPr/>
        </p:nvSpPr>
        <p:spPr>
          <a:xfrm xmlns:a="http://schemas.openxmlformats.org/drawingml/2006/main">
            <a:off x="800100" y="4371975"/>
            <a:ext cx="3124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2635"/>
                </a:solidFill>
                <a:latin typeface="Calibri"/>
                <a:ea typeface="Calibri"/>
                <a:cs typeface="Calibri"/>
              </a:defRPr>
            </a:defPPr>
          </a:lstStyle>
          <a:p xmlns:a="http://schemas.openxmlformats.org/drawingml/2006/main">
            <a:pPr>
              <a:defRPr sz="1875" b="1">
                <a:solidFill>
                  <a:srgbClr val="172635"/>
                </a:solidFill>
                <a:latin typeface="Calibri"/>
                <a:ea typeface="Calibri"/>
                <a:cs typeface="Calibri"/>
              </a:defRPr>
            </a:pPr>
            <a:r>
              <a:rPr sz="1875" b="1">
                <a:solidFill>
                  <a:srgbClr val="172635"/>
                </a:solidFill>
                <a:latin typeface="Calibri"/>
                <a:ea typeface="Calibri"/>
                <a:cs typeface="Calibri"/>
              </a:rPr>
              <a:t>Nodo 3</a:t>
            </a:r>
          </a:p>
        </p:txBody>
      </p:sp>
      <p:sp>
        <p:nvSpPr>
          <p:cNvPr id="10" name="">
            <a:extLst xmlns:a="http://schemas.openxmlformats.org/drawingml/2006/main">
              <a:ext uri="{FF2B5EF4-FFF2-40B4-BE49-F238E27FC236}">
                <a16:creationId xmlns:a16="http://schemas.microsoft.com/office/drawing/2014/main" id="{B770F01B-4C32-416C-BC74-11696C4F939E}"/>
              </a:ext>
            </a:extLst>
          </p:cNvPr>
          <p:cNvSpPr>
            <a:spLocks xmlns:a="http://schemas.openxmlformats.org/drawingml/2006/main" noGrp="1"/>
          </p:cNvSpPr>
          <p:nvPr/>
        </p:nvSpPr>
        <p:spPr>
          <a:xfrm xmlns:a="http://schemas.openxmlformats.org/drawingml/2006/main">
            <a:off x="800100" y="4743450"/>
            <a:ext cx="312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2635"/>
                </a:solidFill>
                <a:latin typeface="Calibri"/>
                <a:ea typeface="Calibri"/>
                <a:cs typeface="Calibri"/>
              </a:defRPr>
            </a:defPPr>
          </a:lstStyle>
          <a:p xmlns:a="http://schemas.openxmlformats.org/drawingml/2006/main">
            <a:pPr>
              <a:defRPr sz="1650" b="0">
                <a:solidFill>
                  <a:srgbClr val="172635"/>
                </a:solidFill>
                <a:latin typeface="Calibri"/>
                <a:ea typeface="Calibri"/>
                <a:cs typeface="Calibri"/>
              </a:defRPr>
            </a:pPr>
            <a:r>
              <a:rPr sz="1650" b="0">
                <a:solidFill>
                  <a:srgbClr val="172635"/>
                </a:solidFill>
                <a:latin typeface="Calibri"/>
                <a:ea typeface="Calibri"/>
                <a:cs typeface="Calibri"/>
              </a:rPr>
              <a:t>Linux, Oracle y agente</a:t>
            </a:r>
          </a:p>
        </p:txBody>
      </p:sp>
      <p:sp>
        <p:nvSpPr>
          <p:cNvPr id="11" name="">
            <a:extLst xmlns:a="http://schemas.openxmlformats.org/drawingml/2006/main">
              <a:ext uri="{FF2B5EF4-FFF2-40B4-BE49-F238E27FC236}">
                <a16:creationId xmlns:a16="http://schemas.microsoft.com/office/drawing/2014/main" id="{5B808566-D963-4559-8ABD-031BE12A782F}"/>
              </a:ext>
            </a:extLst>
          </p:cNvPr>
          <p:cNvSpPr>
            <a:spLocks xmlns:a="http://schemas.openxmlformats.org/drawingml/2006/main" noGrp="1"/>
          </p:cNvSpPr>
          <p:nvPr/>
        </p:nvSpPr>
        <p:spPr>
          <a:xfrm xmlns:a="http://schemas.openxmlformats.org/drawingml/2006/main">
            <a:off x="6238875" y="1495425"/>
            <a:ext cx="5276850" cy="4000500"/>
          </a:xfrm>
          <a:prstGeom xmlns:a="http://schemas.openxmlformats.org/drawingml/2006/main" prst="rect">
            <a:avLst/>
          </a:prstGeom>
          <a:noFill xmlns:a="http://schemas.openxmlformats.org/drawingml/2006/main"/>
          <a:ln xmlns:a="http://schemas.openxmlformats.org/drawingml/2006/main" w="12383">
            <a:solidFill>
              <a:srgbClr val="75879A"/>
            </a:solidFill>
            <a:prstDash val="dash"/>
          </a:ln>
        </p:spPr>
      </p:sp>
      <p:sp>
        <p:nvSpPr>
          <p:cNvPr id="12" name="">
            <a:extLst xmlns:a="http://schemas.openxmlformats.org/drawingml/2006/main">
              <a:ext uri="{FF2B5EF4-FFF2-40B4-BE49-F238E27FC236}">
                <a16:creationId xmlns:a16="http://schemas.microsoft.com/office/drawing/2014/main" id="{354679CA-7F39-42F3-BCE9-BD5817197522}"/>
              </a:ext>
            </a:extLst>
          </p:cNvPr>
          <p:cNvSpPr>
            <a:spLocks xmlns:a="http://schemas.openxmlformats.org/drawingml/2006/main" noGrp="1"/>
          </p:cNvSpPr>
          <p:nvPr/>
        </p:nvSpPr>
        <p:spPr>
          <a:xfrm xmlns:a="http://schemas.openxmlformats.org/drawingml/2006/main">
            <a:off x="6477000" y="1619250"/>
            <a:ext cx="4752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635"/>
                </a:solidFill>
                <a:latin typeface="Calibri"/>
                <a:ea typeface="Calibri"/>
                <a:cs typeface="Calibri"/>
              </a:defRPr>
            </a:defPPr>
          </a:lstStyle>
          <a:p xmlns:a="http://schemas.openxmlformats.org/drawingml/2006/main">
            <a:pPr>
              <a:defRPr sz="2175" b="1">
                <a:solidFill>
                  <a:srgbClr val="172635"/>
                </a:solidFill>
                <a:latin typeface="Calibri"/>
                <a:ea typeface="Calibri"/>
                <a:cs typeface="Calibri"/>
              </a:defRPr>
            </a:pPr>
            <a:r>
              <a:rPr sz="2175" b="1">
                <a:solidFill>
                  <a:srgbClr val="172635"/>
                </a:solidFill>
                <a:latin typeface="Calibri"/>
                <a:ea typeface="Calibri"/>
                <a:cs typeface="Calibri"/>
              </a:rPr>
              <a:t>Nodo 4  Servidor central</a:t>
            </a:r>
          </a:p>
        </p:txBody>
      </p:sp>
      <p:sp>
        <p:nvSpPr>
          <p:cNvPr id="13" name="">
            <a:extLst xmlns:a="http://schemas.openxmlformats.org/drawingml/2006/main">
              <a:ext uri="{FF2B5EF4-FFF2-40B4-BE49-F238E27FC236}">
                <a16:creationId xmlns:a16="http://schemas.microsoft.com/office/drawing/2014/main" id="{7D919EF5-677E-454C-90B7-65F257AF5583}"/>
              </a:ext>
            </a:extLst>
          </p:cNvPr>
          <p:cNvSpPr>
            <a:spLocks xmlns:a="http://schemas.openxmlformats.org/drawingml/2006/main" noGrp="1"/>
          </p:cNvSpPr>
          <p:nvPr/>
        </p:nvSpPr>
        <p:spPr>
          <a:xfrm xmlns:a="http://schemas.openxmlformats.org/drawingml/2006/main">
            <a:off x="6600825" y="2200275"/>
            <a:ext cx="4552950" cy="952500"/>
          </a:xfrm>
          <a:prstGeom xmlns:a="http://schemas.openxmlformats.org/drawingml/2006/main" prst="rect">
            <a:avLst/>
          </a:prstGeom>
          <a:solidFill xmlns:a="http://schemas.openxmlformats.org/drawingml/2006/main">
            <a:srgbClr val="EEF3F8"/>
          </a:solidFill>
          <a:ln xmlns:a="http://schemas.openxmlformats.org/drawingml/2006/main" w="12383">
            <a:solidFill>
              <a:srgbClr val="75879A"/>
            </a:solidFill>
          </a:ln>
        </p:spPr>
      </p:sp>
      <p:sp>
        <p:nvSpPr>
          <p:cNvPr id="14" name="">
            <a:extLst xmlns:a="http://schemas.openxmlformats.org/drawingml/2006/main">
              <a:ext uri="{FF2B5EF4-FFF2-40B4-BE49-F238E27FC236}">
                <a16:creationId xmlns:a16="http://schemas.microsoft.com/office/drawing/2014/main" id="{D5BF7858-748C-4FAF-8811-CFE91E6A3578}"/>
              </a:ext>
            </a:extLst>
          </p:cNvPr>
          <p:cNvSpPr>
            <a:spLocks xmlns:a="http://schemas.openxmlformats.org/drawingml/2006/main" noGrp="1"/>
          </p:cNvSpPr>
          <p:nvPr/>
        </p:nvSpPr>
        <p:spPr>
          <a:xfrm xmlns:a="http://schemas.openxmlformats.org/drawingml/2006/main">
            <a:off x="6753225" y="2305050"/>
            <a:ext cx="4248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2635"/>
                </a:solidFill>
                <a:latin typeface="Calibri"/>
                <a:ea typeface="Calibri"/>
                <a:cs typeface="Calibri"/>
              </a:defRPr>
            </a:defPPr>
          </a:lstStyle>
          <a:p xmlns:a="http://schemas.openxmlformats.org/drawingml/2006/main">
            <a:pPr>
              <a:defRPr sz="1875" b="1">
                <a:solidFill>
                  <a:srgbClr val="172635"/>
                </a:solidFill>
                <a:latin typeface="Calibri"/>
                <a:ea typeface="Calibri"/>
                <a:cs typeface="Calibri"/>
              </a:defRPr>
            </a:pPr>
            <a:r>
              <a:rPr sz="1875" b="1">
                <a:solidFill>
                  <a:srgbClr val="172635"/>
                </a:solidFill>
                <a:latin typeface="Calibri"/>
                <a:ea typeface="Calibri"/>
                <a:cs typeface="Calibri"/>
              </a:rPr>
              <a:t>API central</a:t>
            </a:r>
          </a:p>
        </p:txBody>
      </p:sp>
      <p:sp>
        <p:nvSpPr>
          <p:cNvPr id="15" name="">
            <a:extLst xmlns:a="http://schemas.openxmlformats.org/drawingml/2006/main">
              <a:ext uri="{FF2B5EF4-FFF2-40B4-BE49-F238E27FC236}">
                <a16:creationId xmlns:a16="http://schemas.microsoft.com/office/drawing/2014/main" id="{A23CE281-93A0-42BE-8A12-8E91730812CB}"/>
              </a:ext>
            </a:extLst>
          </p:cNvPr>
          <p:cNvSpPr>
            <a:spLocks xmlns:a="http://schemas.openxmlformats.org/drawingml/2006/main" noGrp="1"/>
          </p:cNvSpPr>
          <p:nvPr/>
        </p:nvSpPr>
        <p:spPr>
          <a:xfrm xmlns:a="http://schemas.openxmlformats.org/drawingml/2006/main">
            <a:off x="6753225" y="2676525"/>
            <a:ext cx="424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2635"/>
                </a:solidFill>
                <a:latin typeface="Calibri"/>
                <a:ea typeface="Calibri"/>
                <a:cs typeface="Calibri"/>
              </a:defRPr>
            </a:defPPr>
          </a:lstStyle>
          <a:p xmlns:a="http://schemas.openxmlformats.org/drawingml/2006/main">
            <a:pPr>
              <a:defRPr sz="1650" b="0">
                <a:solidFill>
                  <a:srgbClr val="172635"/>
                </a:solidFill>
                <a:latin typeface="Calibri"/>
                <a:ea typeface="Calibri"/>
                <a:cs typeface="Calibri"/>
              </a:defRPr>
            </a:pPr>
            <a:r>
              <a:rPr sz="1650" b="0">
                <a:solidFill>
                  <a:srgbClr val="172635"/>
                </a:solidFill>
                <a:latin typeface="Calibri"/>
                <a:ea typeface="Calibri"/>
                <a:cs typeface="Calibri"/>
              </a:rPr>
              <a:t>Recepción y configuración</a:t>
            </a:r>
          </a:p>
        </p:txBody>
      </p:sp>
      <p:sp>
        <p:nvSpPr>
          <p:cNvPr id="16" name="">
            <a:extLst xmlns:a="http://schemas.openxmlformats.org/drawingml/2006/main">
              <a:ext uri="{FF2B5EF4-FFF2-40B4-BE49-F238E27FC236}">
                <a16:creationId xmlns:a16="http://schemas.microsoft.com/office/drawing/2014/main" id="{F047C249-CC8C-4D3B-8CF0-BADFFBA76784}"/>
              </a:ext>
            </a:extLst>
          </p:cNvPr>
          <p:cNvSpPr>
            <a:spLocks xmlns:a="http://schemas.openxmlformats.org/drawingml/2006/main" noGrp="1"/>
          </p:cNvSpPr>
          <p:nvPr/>
        </p:nvSpPr>
        <p:spPr>
          <a:xfrm xmlns:a="http://schemas.openxmlformats.org/drawingml/2006/main">
            <a:off x="6600825" y="3438525"/>
            <a:ext cx="4552950" cy="942975"/>
          </a:xfrm>
          <a:prstGeom xmlns:a="http://schemas.openxmlformats.org/drawingml/2006/main" prst="rect">
            <a:avLst/>
          </a:prstGeom>
          <a:solidFill xmlns:a="http://schemas.openxmlformats.org/drawingml/2006/main">
            <a:srgbClr val="EEF3F8"/>
          </a:solidFill>
          <a:ln xmlns:a="http://schemas.openxmlformats.org/drawingml/2006/main" w="12383">
            <a:solidFill>
              <a:srgbClr val="75879A"/>
            </a:solidFill>
          </a:ln>
        </p:spPr>
      </p:sp>
      <p:sp>
        <p:nvSpPr>
          <p:cNvPr id="17" name="">
            <a:extLst xmlns:a="http://schemas.openxmlformats.org/drawingml/2006/main">
              <a:ext uri="{FF2B5EF4-FFF2-40B4-BE49-F238E27FC236}">
                <a16:creationId xmlns:a16="http://schemas.microsoft.com/office/drawing/2014/main" id="{1BA53F37-586A-44A5-8DD6-B19F3C934812}"/>
              </a:ext>
            </a:extLst>
          </p:cNvPr>
          <p:cNvSpPr>
            <a:spLocks xmlns:a="http://schemas.openxmlformats.org/drawingml/2006/main" noGrp="1"/>
          </p:cNvSpPr>
          <p:nvPr/>
        </p:nvSpPr>
        <p:spPr>
          <a:xfrm xmlns:a="http://schemas.openxmlformats.org/drawingml/2006/main">
            <a:off x="6753225" y="3543300"/>
            <a:ext cx="4248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2635"/>
                </a:solidFill>
                <a:latin typeface="Calibri"/>
                <a:ea typeface="Calibri"/>
                <a:cs typeface="Calibri"/>
              </a:defRPr>
            </a:defPPr>
          </a:lstStyle>
          <a:p xmlns:a="http://schemas.openxmlformats.org/drawingml/2006/main">
            <a:pPr>
              <a:defRPr sz="1875" b="1">
                <a:solidFill>
                  <a:srgbClr val="172635"/>
                </a:solidFill>
                <a:latin typeface="Calibri"/>
                <a:ea typeface="Calibri"/>
                <a:cs typeface="Calibri"/>
              </a:defRPr>
            </a:pPr>
            <a:r>
              <a:rPr sz="1875" b="1">
                <a:solidFill>
                  <a:srgbClr val="172635"/>
                </a:solidFill>
                <a:latin typeface="Calibri"/>
                <a:ea typeface="Calibri"/>
                <a:cs typeface="Calibri"/>
              </a:rPr>
              <a:t>Repositorio Oracle</a:t>
            </a:r>
          </a:p>
        </p:txBody>
      </p:sp>
      <p:sp>
        <p:nvSpPr>
          <p:cNvPr id="18" name="">
            <a:extLst xmlns:a="http://schemas.openxmlformats.org/drawingml/2006/main">
              <a:ext uri="{FF2B5EF4-FFF2-40B4-BE49-F238E27FC236}">
                <a16:creationId xmlns:a16="http://schemas.microsoft.com/office/drawing/2014/main" id="{7582376B-76F0-4D02-92C5-1352ACCB3584}"/>
              </a:ext>
            </a:extLst>
          </p:cNvPr>
          <p:cNvSpPr>
            <a:spLocks xmlns:a="http://schemas.openxmlformats.org/drawingml/2006/main" noGrp="1"/>
          </p:cNvSpPr>
          <p:nvPr/>
        </p:nvSpPr>
        <p:spPr>
          <a:xfrm xmlns:a="http://schemas.openxmlformats.org/drawingml/2006/main">
            <a:off x="6753225" y="3914775"/>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2635"/>
                </a:solidFill>
                <a:latin typeface="Calibri"/>
                <a:ea typeface="Calibri"/>
                <a:cs typeface="Calibri"/>
              </a:defRPr>
            </a:defPPr>
          </a:lstStyle>
          <a:p xmlns:a="http://schemas.openxmlformats.org/drawingml/2006/main">
            <a:pPr>
              <a:defRPr sz="1650" b="0">
                <a:solidFill>
                  <a:srgbClr val="172635"/>
                </a:solidFill>
                <a:latin typeface="Calibri"/>
                <a:ea typeface="Calibri"/>
                <a:cs typeface="Calibri"/>
              </a:defRPr>
            </a:pPr>
            <a:r>
              <a:rPr sz="1650" b="0">
                <a:solidFill>
                  <a:srgbClr val="172635"/>
                </a:solidFill>
                <a:latin typeface="Calibri"/>
                <a:ea typeface="Calibri"/>
                <a:cs typeface="Calibri"/>
              </a:rPr>
              <a:t>Inventario, configuración e histórico</a:t>
            </a:r>
          </a:p>
        </p:txBody>
      </p:sp>
      <p:sp>
        <p:nvSpPr>
          <p:cNvPr id="19" name="">
            <a:extLst xmlns:a="http://schemas.openxmlformats.org/drawingml/2006/main">
              <a:ext uri="{FF2B5EF4-FFF2-40B4-BE49-F238E27FC236}">
                <a16:creationId xmlns:a16="http://schemas.microsoft.com/office/drawing/2014/main" id="{D8A6E91A-BF50-49FD-A156-A0300B163032}"/>
              </a:ext>
            </a:extLst>
          </p:cNvPr>
          <p:cNvSpPr>
            <a:spLocks xmlns:a="http://schemas.openxmlformats.org/drawingml/2006/main" noGrp="1"/>
          </p:cNvSpPr>
          <p:nvPr/>
        </p:nvSpPr>
        <p:spPr>
          <a:xfrm xmlns:a="http://schemas.openxmlformats.org/drawingml/2006/main">
            <a:off x="6610350" y="4810125"/>
            <a:ext cx="4552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2635"/>
                </a:solidFill>
                <a:latin typeface="Calibri"/>
                <a:ea typeface="Calibri"/>
                <a:cs typeface="Calibri"/>
              </a:defRPr>
            </a:defPPr>
          </a:lstStyle>
          <a:p xmlns:a="http://schemas.openxmlformats.org/drawingml/2006/main">
            <a:pPr>
              <a:defRPr sz="1800" b="0">
                <a:solidFill>
                  <a:srgbClr val="172635"/>
                </a:solidFill>
                <a:latin typeface="Calibri"/>
                <a:ea typeface="Calibri"/>
                <a:cs typeface="Calibri"/>
              </a:defRPr>
            </a:pPr>
            <a:r>
              <a:rPr sz="1800" b="0">
                <a:solidFill>
                  <a:srgbClr val="172635"/>
                </a:solidFill>
                <a:latin typeface="Calibri"/>
                <a:ea typeface="Calibri"/>
                <a:cs typeface="Calibri"/>
              </a:rPr>
              <a:t>Servidor web para publicar el dashboard</a:t>
            </a:r>
          </a:p>
        </p:txBody>
      </p:sp>
      <p:sp>
        <p:nvSpPr>
          <p:cNvPr id="24" name="">
            <a:extLst xmlns:a="http://schemas.openxmlformats.org/drawingml/2006/main">
              <a:ext uri="{FF2B5EF4-FFF2-40B4-BE49-F238E27FC236}">
                <a16:creationId xmlns:a16="http://schemas.microsoft.com/office/drawing/2014/main" id="{72E5E041-D896-45EC-90C9-B2EFA02B1FC3}"/>
              </a:ext>
            </a:extLst>
          </p:cNvPr>
          <p:cNvSpPr>
            <a:spLocks xmlns:a="http://schemas.openxmlformats.org/drawingml/2006/main" noGrp="1"/>
          </p:cNvSpPr>
          <p:nvPr/>
        </p:nvSpPr>
        <p:spPr>
          <a:xfrm xmlns:a="http://schemas.openxmlformats.org/drawingml/2006/main">
            <a:off x="4324350" y="4953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94E70"/>
                </a:solidFill>
                <a:latin typeface="Calibri"/>
                <a:ea typeface="Calibri"/>
                <a:cs typeface="Calibri"/>
              </a:defRPr>
            </a:defPPr>
          </a:lstStyle>
          <a:p xmlns:a="http://schemas.openxmlformats.org/drawingml/2006/main">
            <a:pPr>
              <a:defRPr sz="1650" b="0">
                <a:solidFill>
                  <a:srgbClr val="294E70"/>
                </a:solidFill>
                <a:latin typeface="Calibri"/>
                <a:ea typeface="Calibri"/>
                <a:cs typeface="Calibri"/>
              </a:defRPr>
            </a:pPr>
            <a:r>
              <a:rPr sz="1650" b="0">
                <a:solidFill>
                  <a:srgbClr val="294E70"/>
                </a:solidFill>
                <a:latin typeface="Calibri"/>
                <a:ea typeface="Calibri"/>
                <a:cs typeface="Calibri"/>
              </a:rPr>
              <a:t>REST / JSON</a:t>
            </a:r>
          </a:p>
        </p:txBody>
      </p:sp>
      <p:sp>
        <p:nvSpPr>
          <p:cNvPr id="25" name="">
            <a:extLst xmlns:a="http://schemas.openxmlformats.org/drawingml/2006/main">
              <a:ext uri="{FF2B5EF4-FFF2-40B4-BE49-F238E27FC236}">
                <a16:creationId xmlns:a16="http://schemas.microsoft.com/office/drawing/2014/main" id="{B98896E9-5420-41A0-9E8E-AAB8EDFBA924}"/>
              </a:ext>
            </a:extLst>
          </p:cNvPr>
          <p:cNvSpPr>
            <a:spLocks xmlns:a="http://schemas.openxmlformats.org/drawingml/2006/main" noGrp="1"/>
          </p:cNvSpPr>
          <p:nvPr/>
        </p:nvSpPr>
        <p:spPr>
          <a:xfrm xmlns:a="http://schemas.openxmlformats.org/drawingml/2006/main">
            <a:off x="647700" y="58959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635"/>
                </a:solidFill>
                <a:latin typeface="Calibri"/>
                <a:ea typeface="Calibri"/>
                <a:cs typeface="Calibri"/>
              </a:defRPr>
            </a:defPPr>
          </a:lstStyle>
          <a:p xmlns:a="http://schemas.openxmlformats.org/drawingml/2006/main">
            <a:pPr>
              <a:defRPr sz="2025" b="0">
                <a:solidFill>
                  <a:srgbClr val="172635"/>
                </a:solidFill>
                <a:latin typeface="Calibri"/>
                <a:ea typeface="Calibri"/>
                <a:cs typeface="Calibri"/>
              </a:defRPr>
            </a:pPr>
            <a:r>
              <a:rPr sz="2025" b="0">
                <a:solidFill>
                  <a:srgbClr val="172635"/>
                </a:solidFill>
                <a:latin typeface="Calibri"/>
                <a:ea typeface="Calibri"/>
                <a:cs typeface="Calibri"/>
              </a:rPr>
              <a:t>El navegador ejecuta el frontend y consulta únicamente la API</a:t>
            </a:r>
          </a:p>
        </p:txBody>
      </p:sp>
    </p:spTree>
    <p:extLst>
      <p:ext uri="{BB962C8B-B14F-4D97-AF65-F5344CB8AC3E}">
        <p14:creationId xmlns:p14="http://schemas.microsoft.com/office/powerpoint/2010/main" val="4480698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68B14D-12EC-4777-9888-70D92EF55E55}"/>
              </a:ext>
            </a:extLst>
          </p:cNvPr>
          <p:cNvSpPr>
            <a:spLocks xmlns:a="http://schemas.openxmlformats.org/drawingml/2006/main" noGrp="1"/>
          </p:cNvSpPr>
          <p:nvPr/>
        </p:nvSpPr>
        <p:spPr>
          <a:xfrm xmlns:a="http://schemas.openxmlformats.org/drawingml/2006/main">
            <a:off x="647700" y="43815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635"/>
                </a:solidFill>
                <a:latin typeface="Calibri"/>
                <a:ea typeface="Calibri"/>
                <a:cs typeface="Calibri"/>
              </a:defRPr>
            </a:defPPr>
          </a:lstStyle>
          <a:p xmlns:a="http://schemas.openxmlformats.org/drawingml/2006/main">
            <a:pPr>
              <a:defRPr sz="3150" b="1">
                <a:solidFill>
                  <a:srgbClr val="172635"/>
                </a:solidFill>
                <a:latin typeface="Calibri"/>
                <a:ea typeface="Calibri"/>
                <a:cs typeface="Calibri"/>
              </a:defRPr>
            </a:pPr>
            <a:r>
              <a:rPr sz="3150" b="1">
                <a:solidFill>
                  <a:srgbClr val="172635"/>
                </a:solidFill>
                <a:latin typeface="Calibri"/>
                <a:ea typeface="Calibri"/>
                <a:cs typeface="Calibri"/>
              </a:rPr>
              <a:t>Concurrencia y manejo de fallos</a:t>
            </a:r>
          </a:p>
        </p:txBody>
      </p:sp>
      <p:sp>
        <p:nvSpPr>
          <p:cNvPr id="2" name="">
            <a:extLst xmlns:a="http://schemas.openxmlformats.org/drawingml/2006/main">
              <a:ext uri="{FF2B5EF4-FFF2-40B4-BE49-F238E27FC236}">
                <a16:creationId xmlns:a16="http://schemas.microsoft.com/office/drawing/2014/main" id="{975A34CB-21B8-4C7E-9592-B406D6D8D290}"/>
              </a:ext>
            </a:extLst>
          </p:cNvPr>
          <p:cNvSpPr>
            <a:spLocks xmlns:a="http://schemas.openxmlformats.org/drawingml/2006/main" noGrp="1"/>
          </p:cNvSpPr>
          <p:nvPr/>
        </p:nvSpPr>
        <p:spPr>
          <a:xfrm xmlns:a="http://schemas.openxmlformats.org/drawingml/2006/main">
            <a:off x="647700" y="15621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4E70"/>
                </a:solidFill>
                <a:latin typeface="Calibri"/>
                <a:ea typeface="Calibri"/>
                <a:cs typeface="Calibri"/>
              </a:defRPr>
            </a:defPPr>
          </a:lstStyle>
          <a:p xmlns:a="http://schemas.openxmlformats.org/drawingml/2006/main">
            <a:pPr>
              <a:defRPr sz="2250" b="1">
                <a:solidFill>
                  <a:srgbClr val="294E70"/>
                </a:solidFill>
                <a:latin typeface="Calibri"/>
                <a:ea typeface="Calibri"/>
                <a:cs typeface="Calibri"/>
              </a:defRPr>
            </a:pPr>
            <a:r>
              <a:rPr sz="2250" b="1">
                <a:solidFill>
                  <a:srgbClr val="294E70"/>
                </a:solidFill>
                <a:latin typeface="Calibri"/>
                <a:ea typeface="Calibri"/>
                <a:cs typeface="Calibri"/>
              </a:rPr>
              <a:t>Ejecución independiente</a:t>
            </a:r>
          </a:p>
        </p:txBody>
      </p:sp>
      <p:sp>
        <p:nvSpPr>
          <p:cNvPr id="3" name="">
            <a:extLst xmlns:a="http://schemas.openxmlformats.org/drawingml/2006/main">
              <a:ext uri="{FF2B5EF4-FFF2-40B4-BE49-F238E27FC236}">
                <a16:creationId xmlns:a16="http://schemas.microsoft.com/office/drawing/2014/main" id="{CC33BF6B-3144-4C1E-A6A1-D773BD19709D}"/>
              </a:ext>
            </a:extLst>
          </p:cNvPr>
          <p:cNvSpPr>
            <a:spLocks xmlns:a="http://schemas.openxmlformats.org/drawingml/2006/main" noGrp="1"/>
          </p:cNvSpPr>
          <p:nvPr/>
        </p:nvSpPr>
        <p:spPr>
          <a:xfrm xmlns:a="http://schemas.openxmlformats.org/drawingml/2006/main">
            <a:off x="647700" y="2238375"/>
            <a:ext cx="4953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635"/>
                </a:solidFill>
                <a:latin typeface="Calibri"/>
                <a:ea typeface="Calibri"/>
                <a:cs typeface="Calibri"/>
              </a:defRPr>
            </a:defPPr>
          </a:lstStyle>
          <a:p xmlns:a="http://schemas.openxmlformats.org/drawingml/2006/main">
            <a:pPr>
              <a:defRPr sz="2175" b="0">
                <a:solidFill>
                  <a:srgbClr val="172635"/>
                </a:solidFill>
                <a:latin typeface="Calibri"/>
                <a:ea typeface="Calibri"/>
                <a:cs typeface="Calibri"/>
              </a:defRPr>
            </a:pPr>
            <a:r>
              <a:rPr sz="2175" b="0">
                <a:solidFill>
                  <a:srgbClr val="172635"/>
                </a:solidFill>
                <a:latin typeface="Calibri"/>
                <a:ea typeface="Calibri"/>
                <a:cs typeface="Calibri"/>
              </a:rPr>
              <a:t>Cada agente calcula y evalúa sus controles.</a:t>
            </a:r>
          </a:p>
          <a:p xmlns:a="http://schemas.openxmlformats.org/drawingml/2006/main">
            <a:r>
              <a:t/>
            </a:r>
          </a:p>
          <a:p xmlns:a="http://schemas.openxmlformats.org/drawingml/2006/main">
            <a:pPr>
              <a:defRPr sz="2175" b="0">
                <a:solidFill>
                  <a:srgbClr val="172635"/>
                </a:solidFill>
                <a:latin typeface="Calibri"/>
                <a:ea typeface="Calibri"/>
                <a:cs typeface="Calibri"/>
              </a:defRPr>
            </a:pPr>
            <a:r>
              <a:rPr sz="2175" b="0">
                <a:solidFill>
                  <a:srgbClr val="172635"/>
                </a:solidFill>
                <a:latin typeface="Calibri"/>
                <a:ea typeface="Calibri"/>
                <a:cs typeface="Calibri"/>
              </a:rPr>
              <a:t>Los tres agentes trabajan simultáneamente.</a:t>
            </a:r>
          </a:p>
          <a:p xmlns:a="http://schemas.openxmlformats.org/drawingml/2006/main">
            <a:r>
              <a:t/>
            </a:r>
          </a:p>
          <a:p xmlns:a="http://schemas.openxmlformats.org/drawingml/2006/main">
            <a:pPr>
              <a:defRPr sz="2175" b="0">
                <a:solidFill>
                  <a:srgbClr val="172635"/>
                </a:solidFill>
                <a:latin typeface="Calibri"/>
                <a:ea typeface="Calibri"/>
                <a:cs typeface="Calibri"/>
              </a:defRPr>
            </a:pPr>
            <a:r>
              <a:rPr sz="2175" b="0">
                <a:solidFill>
                  <a:srgbClr val="172635"/>
                </a:solidFill>
                <a:latin typeface="Calibri"/>
                <a:ea typeface="Calibri"/>
                <a:cs typeface="Calibri"/>
              </a:rPr>
              <a:t>Un límite de tareas y tiempos máximos controla el consumo local.</a:t>
            </a:r>
          </a:p>
        </p:txBody>
      </p:sp>
      <p:sp>
        <p:nvSpPr>
          <p:cNvPr id="4" name="">
            <a:extLst xmlns:a="http://schemas.openxmlformats.org/drawingml/2006/main">
              <a:ext uri="{FF2B5EF4-FFF2-40B4-BE49-F238E27FC236}">
                <a16:creationId xmlns:a16="http://schemas.microsoft.com/office/drawing/2014/main" id="{5C8E4D5D-BCC1-48F6-97BE-57AF78416423}"/>
              </a:ext>
            </a:extLst>
          </p:cNvPr>
          <p:cNvSpPr>
            <a:spLocks xmlns:a="http://schemas.openxmlformats.org/drawingml/2006/main" noGrp="1"/>
          </p:cNvSpPr>
          <p:nvPr/>
        </p:nvSpPr>
        <p:spPr>
          <a:xfrm xmlns:a="http://schemas.openxmlformats.org/drawingml/2006/main">
            <a:off x="6381750" y="15621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94E70"/>
                </a:solidFill>
                <a:latin typeface="Calibri"/>
                <a:ea typeface="Calibri"/>
                <a:cs typeface="Calibri"/>
              </a:defRPr>
            </a:defPPr>
          </a:lstStyle>
          <a:p xmlns:a="http://schemas.openxmlformats.org/drawingml/2006/main">
            <a:pPr>
              <a:defRPr sz="2250" b="1">
                <a:solidFill>
                  <a:srgbClr val="294E70"/>
                </a:solidFill>
                <a:latin typeface="Calibri"/>
                <a:ea typeface="Calibri"/>
                <a:cs typeface="Calibri"/>
              </a:defRPr>
            </a:pPr>
            <a:r>
              <a:rPr sz="2250" b="1">
                <a:solidFill>
                  <a:srgbClr val="294E70"/>
                </a:solidFill>
                <a:latin typeface="Calibri"/>
                <a:ea typeface="Calibri"/>
                <a:cs typeface="Calibri"/>
              </a:rPr>
              <a:t>Coordinación central</a:t>
            </a:r>
          </a:p>
        </p:txBody>
      </p:sp>
      <p:sp>
        <p:nvSpPr>
          <p:cNvPr id="5" name="">
            <a:extLst xmlns:a="http://schemas.openxmlformats.org/drawingml/2006/main">
              <a:ext uri="{FF2B5EF4-FFF2-40B4-BE49-F238E27FC236}">
                <a16:creationId xmlns:a16="http://schemas.microsoft.com/office/drawing/2014/main" id="{F12BB54C-7503-45B3-8A8D-0ED479EA44BE}"/>
              </a:ext>
            </a:extLst>
          </p:cNvPr>
          <p:cNvSpPr>
            <a:spLocks xmlns:a="http://schemas.openxmlformats.org/drawingml/2006/main" noGrp="1"/>
          </p:cNvSpPr>
          <p:nvPr/>
        </p:nvSpPr>
        <p:spPr>
          <a:xfrm xmlns:a="http://schemas.openxmlformats.org/drawingml/2006/main">
            <a:off x="6381750" y="2238375"/>
            <a:ext cx="50482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635"/>
                </a:solidFill>
                <a:latin typeface="Calibri"/>
                <a:ea typeface="Calibri"/>
                <a:cs typeface="Calibri"/>
              </a:defRPr>
            </a:defPPr>
          </a:lstStyle>
          <a:p xmlns:a="http://schemas.openxmlformats.org/drawingml/2006/main">
            <a:pPr>
              <a:defRPr sz="2175" b="0">
                <a:solidFill>
                  <a:srgbClr val="172635"/>
                </a:solidFill>
                <a:latin typeface="Calibri"/>
                <a:ea typeface="Calibri"/>
                <a:cs typeface="Calibri"/>
              </a:defRPr>
            </a:pPr>
            <a:r>
              <a:rPr sz="2175" b="0">
                <a:solidFill>
                  <a:srgbClr val="172635"/>
                </a:solidFill>
                <a:latin typeface="Calibri"/>
                <a:ea typeface="Calibri"/>
                <a:cs typeface="Calibri"/>
              </a:rPr>
              <a:t>Transacciones al recibir resultados.</a:t>
            </a:r>
          </a:p>
          <a:p xmlns:a="http://schemas.openxmlformats.org/drawingml/2006/main">
            <a:r>
              <a:t/>
            </a:r>
          </a:p>
          <a:p xmlns:a="http://schemas.openxmlformats.org/drawingml/2006/main">
            <a:pPr>
              <a:defRPr sz="2175" b="0">
                <a:solidFill>
                  <a:srgbClr val="172635"/>
                </a:solidFill>
                <a:latin typeface="Calibri"/>
                <a:ea typeface="Calibri"/>
                <a:cs typeface="Calibri"/>
              </a:defRPr>
            </a:pPr>
            <a:r>
              <a:rPr sz="2175" b="0">
                <a:solidFill>
                  <a:srgbClr val="172635"/>
                </a:solidFill>
                <a:latin typeface="Calibri"/>
                <a:ea typeface="Calibri"/>
                <a:cs typeface="Calibri"/>
              </a:rPr>
              <a:t>ID único para evitar registros duplicados.</a:t>
            </a:r>
          </a:p>
          <a:p xmlns:a="http://schemas.openxmlformats.org/drawingml/2006/main">
            <a:r>
              <a:t/>
            </a:r>
          </a:p>
          <a:p xmlns:a="http://schemas.openxmlformats.org/drawingml/2006/main">
            <a:pPr>
              <a:defRPr sz="2175" b="0">
                <a:solidFill>
                  <a:srgbClr val="172635"/>
                </a:solidFill>
                <a:latin typeface="Calibri"/>
                <a:ea typeface="Calibri"/>
                <a:cs typeface="Calibri"/>
              </a:defRPr>
            </a:pPr>
            <a:r>
              <a:rPr sz="2175" b="0">
                <a:solidFill>
                  <a:srgbClr val="172635"/>
                </a:solidFill>
                <a:latin typeface="Calibri"/>
                <a:ea typeface="Calibri"/>
                <a:cs typeface="Calibri"/>
              </a:rPr>
              <a:t>Configuración versionada y cambios entre ejecuciones.</a:t>
            </a:r>
          </a:p>
        </p:txBody>
      </p:sp>
      <p:sp>
        <p:nvSpPr>
          <p:cNvPr id="6" name="">
            <a:extLst xmlns:a="http://schemas.openxmlformats.org/drawingml/2006/main">
              <a:ext uri="{FF2B5EF4-FFF2-40B4-BE49-F238E27FC236}">
                <a16:creationId xmlns:a16="http://schemas.microsoft.com/office/drawing/2014/main" id="{80FB50E6-0798-441C-8FA2-4555C5E5F891}"/>
              </a:ext>
            </a:extLst>
          </p:cNvPr>
          <p:cNvSpPr>
            <a:spLocks xmlns:a="http://schemas.openxmlformats.org/drawingml/2006/main" noGrp="1"/>
          </p:cNvSpPr>
          <p:nvPr/>
        </p:nvSpPr>
        <p:spPr>
          <a:xfrm xmlns:a="http://schemas.openxmlformats.org/drawingml/2006/main">
            <a:off x="647700" y="593407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94E70"/>
                </a:solidFill>
                <a:latin typeface="Calibri"/>
                <a:ea typeface="Calibri"/>
                <a:cs typeface="Calibri"/>
              </a:defRPr>
            </a:defPPr>
          </a:lstStyle>
          <a:p xmlns:a="http://schemas.openxmlformats.org/drawingml/2006/main">
            <a:pPr>
              <a:defRPr sz="1950" b="0">
                <a:solidFill>
                  <a:srgbClr val="294E70"/>
                </a:solidFill>
                <a:latin typeface="Calibri"/>
                <a:ea typeface="Calibri"/>
                <a:cs typeface="Calibri"/>
              </a:defRPr>
            </a:pPr>
            <a:r>
              <a:rPr sz="1950" b="0">
                <a:solidFill>
                  <a:srgbClr val="294E70"/>
                </a:solidFill>
                <a:latin typeface="Calibri"/>
                <a:ea typeface="Calibri"/>
                <a:cs typeface="Calibri"/>
              </a:rPr>
              <a:t>Sin heartbeat: mostrar falta de contacto y antigüedad de los datos</a:t>
            </a:r>
          </a:p>
        </p:txBody>
      </p:sp>
    </p:spTree>
    <p:extLst>
      <p:ext uri="{BB962C8B-B14F-4D97-AF65-F5344CB8AC3E}">
        <p14:creationId xmlns:p14="http://schemas.microsoft.com/office/powerpoint/2010/main" val="18522671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6DB048-7C4E-4999-8535-F788D1DD1B2F}"/>
              </a:ext>
            </a:extLst>
          </p:cNvPr>
          <p:cNvSpPr>
            <a:spLocks xmlns:a="http://schemas.openxmlformats.org/drawingml/2006/main" noGrp="1"/>
          </p:cNvSpPr>
          <p:nvPr/>
        </p:nvSpPr>
        <p:spPr>
          <a:xfrm xmlns:a="http://schemas.openxmlformats.org/drawingml/2006/main">
            <a:off x="647700" y="43815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635"/>
                </a:solidFill>
                <a:latin typeface="Calibri"/>
                <a:ea typeface="Calibri"/>
                <a:cs typeface="Calibri"/>
              </a:defRPr>
            </a:defPPr>
          </a:lstStyle>
          <a:p xmlns:a="http://schemas.openxmlformats.org/drawingml/2006/main">
            <a:pPr>
              <a:defRPr sz="3150" b="1">
                <a:solidFill>
                  <a:srgbClr val="172635"/>
                </a:solidFill>
                <a:latin typeface="Calibri"/>
                <a:ea typeface="Calibri"/>
                <a:cs typeface="Calibri"/>
              </a:defRPr>
            </a:pPr>
            <a:r>
              <a:rPr sz="3150" b="1">
                <a:solidFill>
                  <a:srgbClr val="172635"/>
                </a:solidFill>
                <a:latin typeface="Calibri"/>
                <a:ea typeface="Calibri"/>
                <a:cs typeface="Calibri"/>
              </a:rPr>
              <a:t>Escenarios para validar la propuesta</a:t>
            </a:r>
          </a:p>
        </p:txBody>
      </p:sp>
      <p:sp>
        <p:nvSpPr>
          <p:cNvPr id="2" name="">
            <a:extLst xmlns:a="http://schemas.openxmlformats.org/drawingml/2006/main">
              <a:ext uri="{FF2B5EF4-FFF2-40B4-BE49-F238E27FC236}">
                <a16:creationId xmlns:a16="http://schemas.microsoft.com/office/drawing/2014/main" id="{A8B87058-4A1A-4C42-B47D-108020065114}"/>
              </a:ext>
            </a:extLst>
          </p:cNvPr>
          <p:cNvSpPr>
            <a:spLocks xmlns:a="http://schemas.openxmlformats.org/drawingml/2006/main" noGrp="1"/>
          </p:cNvSpPr>
          <p:nvPr/>
        </p:nvSpPr>
        <p:spPr>
          <a:xfrm xmlns:a="http://schemas.openxmlformats.org/drawingml/2006/main">
            <a:off x="647700" y="1571625"/>
            <a:ext cx="5191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94E70"/>
                </a:solidFill>
                <a:latin typeface="Calibri"/>
                <a:ea typeface="Calibri"/>
                <a:cs typeface="Calibri"/>
              </a:defRPr>
            </a:defPPr>
          </a:lstStyle>
          <a:p xmlns:a="http://schemas.openxmlformats.org/drawingml/2006/main">
            <a:pPr>
              <a:defRPr sz="2325" b="1">
                <a:solidFill>
                  <a:srgbClr val="294E70"/>
                </a:solidFill>
                <a:latin typeface="Calibri"/>
                <a:ea typeface="Calibri"/>
                <a:cs typeface="Calibri"/>
              </a:defRPr>
            </a:pPr>
            <a:r>
              <a:rPr sz="2325" b="1">
                <a:solidFill>
                  <a:srgbClr val="294E70"/>
                </a:solidFill>
                <a:latin typeface="Calibri"/>
                <a:ea typeface="Calibri"/>
                <a:cs typeface="Calibri"/>
              </a:rPr>
              <a:t>Tablespace con ocupación elevada</a:t>
            </a:r>
          </a:p>
        </p:txBody>
      </p:sp>
      <p:sp>
        <p:nvSpPr>
          <p:cNvPr id="3" name="">
            <a:extLst xmlns:a="http://schemas.openxmlformats.org/drawingml/2006/main">
              <a:ext uri="{FF2B5EF4-FFF2-40B4-BE49-F238E27FC236}">
                <a16:creationId xmlns:a16="http://schemas.microsoft.com/office/drawing/2014/main" id="{1D1A19E6-BC9B-4733-B375-1C8CF02C8B47}"/>
              </a:ext>
            </a:extLst>
          </p:cNvPr>
          <p:cNvSpPr>
            <a:spLocks xmlns:a="http://schemas.openxmlformats.org/drawingml/2006/main" noGrp="1"/>
          </p:cNvSpPr>
          <p:nvPr/>
        </p:nvSpPr>
        <p:spPr>
          <a:xfrm xmlns:a="http://schemas.openxmlformats.org/drawingml/2006/main">
            <a:off x="647700" y="2724150"/>
            <a:ext cx="5238750"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635"/>
                </a:solidFill>
                <a:latin typeface="Calibri"/>
                <a:ea typeface="Calibri"/>
                <a:cs typeface="Calibri"/>
              </a:defRPr>
            </a:defPPr>
          </a:lstStyle>
          <a:p xmlns:a="http://schemas.openxmlformats.org/drawingml/2006/main">
            <a:pPr>
              <a:defRPr sz="2100" b="0">
                <a:solidFill>
                  <a:srgbClr val="172635"/>
                </a:solidFill>
                <a:latin typeface="Calibri"/>
                <a:ea typeface="Calibri"/>
                <a:cs typeface="Calibri"/>
              </a:defRPr>
            </a:pPr>
            <a:r>
              <a:rPr sz="2100" b="0">
                <a:solidFill>
                  <a:srgbClr val="172635"/>
                </a:solidFill>
                <a:latin typeface="Calibri"/>
                <a:ea typeface="Calibri"/>
                <a:cs typeface="Calibri"/>
              </a:rPr>
              <a:t>1  El agente consulta Oracle local.</a:t>
            </a:r>
          </a:p>
          <a:p xmlns:a="http://schemas.openxmlformats.org/drawingml/2006/main">
            <a:pPr>
              <a:defRPr sz="2100" b="0">
                <a:solidFill>
                  <a:srgbClr val="172635"/>
                </a:solidFill>
                <a:latin typeface="Calibri"/>
                <a:ea typeface="Calibri"/>
                <a:cs typeface="Calibri"/>
              </a:defRPr>
            </a:pPr>
            <a:r>
              <a:rPr sz="2100" b="0">
                <a:solidFill>
                  <a:srgbClr val="172635"/>
                </a:solidFill>
                <a:latin typeface="Calibri"/>
                <a:ea typeface="Calibri"/>
                <a:cs typeface="Calibri"/>
              </a:rPr>
              <a:t>2  Calcula el porcentaje y clasifica.</a:t>
            </a:r>
          </a:p>
          <a:p xmlns:a="http://schemas.openxmlformats.org/drawingml/2006/main">
            <a:pPr>
              <a:defRPr sz="2100" b="0">
                <a:solidFill>
                  <a:srgbClr val="172635"/>
                </a:solidFill>
                <a:latin typeface="Calibri"/>
                <a:ea typeface="Calibri"/>
                <a:cs typeface="Calibri"/>
              </a:defRPr>
            </a:pPr>
            <a:r>
              <a:rPr sz="2100" b="0">
                <a:solidFill>
                  <a:srgbClr val="172635"/>
                </a:solidFill>
                <a:latin typeface="Calibri"/>
                <a:ea typeface="Calibri"/>
                <a:cs typeface="Calibri"/>
              </a:rPr>
              <a:t>3  La API registra el resultado.</a:t>
            </a:r>
          </a:p>
          <a:p xmlns:a="http://schemas.openxmlformats.org/drawingml/2006/main">
            <a:pPr>
              <a:defRPr sz="2100" b="0">
                <a:solidFill>
                  <a:srgbClr val="172635"/>
                </a:solidFill>
                <a:latin typeface="Calibri"/>
                <a:ea typeface="Calibri"/>
                <a:cs typeface="Calibri"/>
              </a:defRPr>
            </a:pPr>
            <a:r>
              <a:rPr sz="2100" b="0">
                <a:solidFill>
                  <a:srgbClr val="172635"/>
                </a:solidFill>
                <a:latin typeface="Calibri"/>
                <a:ea typeface="Calibri"/>
                <a:cs typeface="Calibri"/>
              </a:rPr>
              <a:t>4  El operador consulta el dashboard.</a:t>
            </a:r>
          </a:p>
        </p:txBody>
      </p:sp>
      <p:sp>
        <p:nvSpPr>
          <p:cNvPr id="4" name="">
            <a:extLst xmlns:a="http://schemas.openxmlformats.org/drawingml/2006/main">
              <a:ext uri="{FF2B5EF4-FFF2-40B4-BE49-F238E27FC236}">
                <a16:creationId xmlns:a16="http://schemas.microsoft.com/office/drawing/2014/main" id="{695D59FE-60EF-4B49-961B-CE13311E52F3}"/>
              </a:ext>
            </a:extLst>
          </p:cNvPr>
          <p:cNvSpPr>
            <a:spLocks xmlns:a="http://schemas.openxmlformats.org/drawingml/2006/main" noGrp="1"/>
          </p:cNvSpPr>
          <p:nvPr/>
        </p:nvSpPr>
        <p:spPr>
          <a:xfrm xmlns:a="http://schemas.openxmlformats.org/drawingml/2006/main">
            <a:off x="6477000" y="1571625"/>
            <a:ext cx="5000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94E70"/>
                </a:solidFill>
                <a:latin typeface="Calibri"/>
                <a:ea typeface="Calibri"/>
                <a:cs typeface="Calibri"/>
              </a:defRPr>
            </a:defPPr>
          </a:lstStyle>
          <a:p xmlns:a="http://schemas.openxmlformats.org/drawingml/2006/main">
            <a:pPr>
              <a:defRPr sz="2325" b="1">
                <a:solidFill>
                  <a:srgbClr val="294E70"/>
                </a:solidFill>
                <a:latin typeface="Calibri"/>
                <a:ea typeface="Calibri"/>
                <a:cs typeface="Calibri"/>
              </a:defRPr>
            </a:pPr>
            <a:r>
              <a:rPr sz="2325" b="1">
                <a:solidFill>
                  <a:srgbClr val="294E70"/>
                </a:solidFill>
                <a:latin typeface="Calibri"/>
                <a:ea typeface="Calibri"/>
                <a:cs typeface="Calibri"/>
              </a:rPr>
              <a:t>Agente sin contacto</a:t>
            </a:r>
          </a:p>
        </p:txBody>
      </p:sp>
      <p:sp>
        <p:nvSpPr>
          <p:cNvPr id="5" name="">
            <a:extLst xmlns:a="http://schemas.openxmlformats.org/drawingml/2006/main">
              <a:ext uri="{FF2B5EF4-FFF2-40B4-BE49-F238E27FC236}">
                <a16:creationId xmlns:a16="http://schemas.microsoft.com/office/drawing/2014/main" id="{ABA56C30-9AB7-440C-9D0A-9C22BC89D068}"/>
              </a:ext>
            </a:extLst>
          </p:cNvPr>
          <p:cNvSpPr>
            <a:spLocks xmlns:a="http://schemas.openxmlformats.org/drawingml/2006/main" noGrp="1"/>
          </p:cNvSpPr>
          <p:nvPr/>
        </p:nvSpPr>
        <p:spPr>
          <a:xfrm xmlns:a="http://schemas.openxmlformats.org/drawingml/2006/main">
            <a:off x="6477000" y="2724150"/>
            <a:ext cx="500062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635"/>
                </a:solidFill>
                <a:latin typeface="Calibri"/>
                <a:ea typeface="Calibri"/>
                <a:cs typeface="Calibri"/>
              </a:defRPr>
            </a:defPPr>
          </a:lstStyle>
          <a:p xmlns:a="http://schemas.openxmlformats.org/drawingml/2006/main">
            <a:pPr>
              <a:defRPr sz="2100" b="0">
                <a:solidFill>
                  <a:srgbClr val="172635"/>
                </a:solidFill>
                <a:latin typeface="Calibri"/>
                <a:ea typeface="Calibri"/>
                <a:cs typeface="Calibri"/>
              </a:defRPr>
            </a:pPr>
            <a:r>
              <a:rPr sz="2100" b="0">
                <a:solidFill>
                  <a:srgbClr val="172635"/>
                </a:solidFill>
                <a:latin typeface="Calibri"/>
                <a:ea typeface="Calibri"/>
                <a:cs typeface="Calibri"/>
              </a:rPr>
              <a:t>Se detiene el agente del nodo 2.</a:t>
            </a:r>
          </a:p>
          <a:p xmlns:a="http://schemas.openxmlformats.org/drawingml/2006/main">
            <a:r>
              <a:t/>
            </a:r>
          </a:p>
          <a:p xmlns:a="http://schemas.openxmlformats.org/drawingml/2006/main">
            <a:pPr>
              <a:defRPr sz="2100" b="0">
                <a:solidFill>
                  <a:srgbClr val="172635"/>
                </a:solidFill>
                <a:latin typeface="Calibri"/>
                <a:ea typeface="Calibri"/>
                <a:cs typeface="Calibri"/>
              </a:defRPr>
            </a:pPr>
            <a:r>
              <a:rPr sz="2100" b="0">
                <a:solidFill>
                  <a:srgbClr val="172635"/>
                </a:solidFill>
                <a:latin typeface="Calibri"/>
                <a:ea typeface="Calibri"/>
                <a:cs typeface="Calibri"/>
              </a:rPr>
              <a:t>Los otros dos continúan.</a:t>
            </a:r>
          </a:p>
          <a:p xmlns:a="http://schemas.openxmlformats.org/drawingml/2006/main">
            <a:r>
              <a:t/>
            </a:r>
          </a:p>
          <a:p xmlns:a="http://schemas.openxmlformats.org/drawingml/2006/main">
            <a:pPr>
              <a:defRPr sz="2100" b="0">
                <a:solidFill>
                  <a:srgbClr val="172635"/>
                </a:solidFill>
                <a:latin typeface="Calibri"/>
                <a:ea typeface="Calibri"/>
                <a:cs typeface="Calibri"/>
              </a:defRPr>
            </a:pPr>
            <a:r>
              <a:rPr sz="2100" b="0">
                <a:solidFill>
                  <a:srgbClr val="172635"/>
                </a:solidFill>
                <a:latin typeface="Calibri"/>
                <a:ea typeface="Calibri"/>
                <a:cs typeface="Calibri"/>
              </a:rPr>
              <a:t>La API marca falta de contacto y el dashboard muestra la última medición con su fecha.</a:t>
            </a:r>
          </a:p>
        </p:txBody>
      </p:sp>
      <p:sp>
        <p:nvSpPr>
          <p:cNvPr id="6" name="">
            <a:extLst xmlns:a="http://schemas.openxmlformats.org/drawingml/2006/main">
              <a:ext uri="{FF2B5EF4-FFF2-40B4-BE49-F238E27FC236}">
                <a16:creationId xmlns:a16="http://schemas.microsoft.com/office/drawing/2014/main" id="{D34C059E-D3CB-427B-AE6F-0224649A7C9D}"/>
              </a:ext>
            </a:extLst>
          </p:cNvPr>
          <p:cNvSpPr>
            <a:spLocks xmlns:a="http://schemas.openxmlformats.org/drawingml/2006/main" noGrp="1"/>
          </p:cNvSpPr>
          <p:nvPr/>
        </p:nvSpPr>
        <p:spPr>
          <a:xfrm xmlns:a="http://schemas.openxmlformats.org/drawingml/2006/main">
            <a:off x="647700" y="5905500"/>
            <a:ext cx="10801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578"/>
                </a:solidFill>
                <a:latin typeface="Calibri"/>
                <a:ea typeface="Calibri"/>
                <a:cs typeface="Calibri"/>
              </a:defRPr>
            </a:defPPr>
          </a:lstStyle>
          <a:p xmlns:a="http://schemas.openxmlformats.org/drawingml/2006/main">
            <a:pPr>
              <a:defRPr sz="1800" b="0">
                <a:solidFill>
                  <a:srgbClr val="526578"/>
                </a:solidFill>
                <a:latin typeface="Calibri"/>
                <a:ea typeface="Calibri"/>
                <a:cs typeface="Calibri"/>
              </a:defRPr>
            </a:pPr>
            <a:r>
              <a:rPr sz="1800" b="0">
                <a:solidFill>
                  <a:srgbClr val="526578"/>
                </a:solidFill>
                <a:latin typeface="Calibri"/>
                <a:ea typeface="Calibri"/>
                <a:cs typeface="Calibri"/>
              </a:rPr>
              <a:t>Tecnologías propuestas: Java y Spring Boot, Oracle Database Free, React y Docker Compose</a:t>
            </a:r>
          </a:p>
        </p:txBody>
      </p:sp>
    </p:spTree>
    <p:extLst>
      <p:ext uri="{BB962C8B-B14F-4D97-AF65-F5344CB8AC3E}">
        <p14:creationId xmlns:p14="http://schemas.microsoft.com/office/powerpoint/2010/main" val="14634980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2026-10-12T23:06:09.2730000Z</dcterms:created>
  <dcterms:modified xsi:type="dcterms:W3CDTF">2026-10-12T23:06:09.2730000Z</dcterms:modified>
</coreProperties>
</file>